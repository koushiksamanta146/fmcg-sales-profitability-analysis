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embeddedFontLst>
    <p:embeddedFont>
      <p:font typeface="Calibri" panose="020F0502020204030204" pitchFamily="34" charset="0"/>
      <p:regular r:id="rId9"/>
      <p:bold r:id="rId10"/>
      <p:italic r:id="rId11"/>
      <p:boldItalic r:id="rId12"/>
    </p:embeddedFont>
    <p:embeddedFont>
      <p:font typeface="Inter"/>
      <p:bold r:id="rId1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162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7" d="100"/>
          <a:sy n="107" d="100"/>
        </p:scale>
        <p:origin x="714"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5.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02-Oct-26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02-Oct-26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02-Oct-26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02-Oct-26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02-Oct-26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02-Oct-26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02-Oct-26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02-Oct-26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02-Oct-26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02-Oct-26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02-Oct-26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02-Oct-26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1.png"/></Relationships>
</file>

<file path=ppt/slides/_rels/slide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3" name="Rounded Rectangle 2"/>
          <p:cNvSpPr/>
          <p:nvPr/>
        </p:nvSpPr>
        <p:spPr>
          <a:xfrm>
            <a:off x="609600" y="4068960"/>
            <a:ext cx="762000" cy="38100"/>
          </a:xfrm>
          <a:prstGeom prst="roundRect">
            <a:avLst>
              <a:gd name="adj" fmla="val 5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590925" y="4430910"/>
            <a:ext cx="9525" cy="304800"/>
          </a:xfrm>
          <a:prstGeom prst="rect">
            <a:avLst/>
          </a:prstGeom>
          <a:solidFill>
            <a:srgbClr val="FFFFFF">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2"/>
          <a:stretch>
            <a:fillRect/>
          </a:stretch>
        </p:blipFill>
        <p:spPr>
          <a:xfrm>
            <a:off x="609600" y="533400"/>
            <a:ext cx="342900" cy="342900"/>
          </a:xfrm>
          <a:prstGeom prst="rect">
            <a:avLst/>
          </a:prstGeom>
        </p:spPr>
      </p:pic>
      <p:pic>
        <p:nvPicPr>
          <p:cNvPr id="6" name="Picture 5" descr="image.png"/>
          <p:cNvPicPr>
            <a:picLocks noChangeAspect="1"/>
          </p:cNvPicPr>
          <p:nvPr/>
        </p:nvPicPr>
        <p:blipFill>
          <a:blip r:embed="rId3"/>
          <a:stretch>
            <a:fillRect/>
          </a:stretch>
        </p:blipFill>
        <p:spPr>
          <a:xfrm>
            <a:off x="695325" y="619125"/>
            <a:ext cx="171450" cy="171450"/>
          </a:xfrm>
          <a:prstGeom prst="rect">
            <a:avLst/>
          </a:prstGeom>
        </p:spPr>
      </p:pic>
      <p:sp>
        <p:nvSpPr>
          <p:cNvPr id="7" name="TextBox 6"/>
          <p:cNvSpPr txBox="1"/>
          <p:nvPr/>
        </p:nvSpPr>
        <p:spPr>
          <a:xfrm>
            <a:off x="8953500" y="619125"/>
            <a:ext cx="2590800" cy="171450"/>
          </a:xfrm>
          <a:prstGeom prst="rect">
            <a:avLst/>
          </a:prstGeom>
          <a:noFill/>
        </p:spPr>
        <p:txBody>
          <a:bodyPr wrap="square" lIns="0" tIns="0" rIns="0" bIns="0" anchor="t">
            <a:spAutoFit/>
          </a:bodyPr>
          <a:lstStyle/>
          <a:p>
            <a:pPr algn="l"/>
            <a:r>
              <a:rPr sz="975" b="1" i="0" u="none">
                <a:solidFill>
                  <a:srgbClr val="94A3B8"/>
                </a:solidFill>
                <a:latin typeface="Inter"/>
              </a:rPr>
              <a:t>Quarterly Business Review (QBR) Briefing</a:t>
            </a:r>
          </a:p>
        </p:txBody>
      </p:sp>
      <p:sp>
        <p:nvSpPr>
          <p:cNvPr id="8" name="TextBox 7"/>
          <p:cNvSpPr txBox="1"/>
          <p:nvPr/>
        </p:nvSpPr>
        <p:spPr>
          <a:xfrm>
            <a:off x="609600" y="2445990"/>
            <a:ext cx="1899559" cy="173124"/>
          </a:xfrm>
          <a:prstGeom prst="rect">
            <a:avLst/>
          </a:prstGeom>
          <a:noFill/>
        </p:spPr>
        <p:txBody>
          <a:bodyPr wrap="none" lIns="0" tIns="0" rIns="0" bIns="0" anchor="t">
            <a:spAutoFit/>
          </a:bodyPr>
          <a:lstStyle/>
          <a:p>
            <a:pPr algn="l"/>
            <a:r>
              <a:rPr sz="1125" b="1" i="0" u="none" dirty="0">
                <a:solidFill>
                  <a:srgbClr val="14B8A6"/>
                </a:solidFill>
                <a:latin typeface="Inter"/>
              </a:rPr>
              <a:t>DATA ANALYST EXCEL PROJECT </a:t>
            </a:r>
          </a:p>
        </p:txBody>
      </p:sp>
      <p:sp>
        <p:nvSpPr>
          <p:cNvPr id="9" name="TextBox 8"/>
          <p:cNvSpPr txBox="1"/>
          <p:nvPr/>
        </p:nvSpPr>
        <p:spPr>
          <a:xfrm>
            <a:off x="609600" y="2760315"/>
            <a:ext cx="11582400" cy="569565"/>
          </a:xfrm>
          <a:prstGeom prst="rect">
            <a:avLst/>
          </a:prstGeom>
          <a:noFill/>
        </p:spPr>
        <p:txBody>
          <a:bodyPr wrap="none" lIns="0" tIns="0" rIns="0" bIns="0" anchor="t">
            <a:spAutoFit/>
          </a:bodyPr>
          <a:lstStyle/>
          <a:p>
            <a:pPr algn="l">
              <a:lnSpc>
                <a:spcPts val="4484"/>
              </a:lnSpc>
            </a:pPr>
            <a:r>
              <a:rPr sz="3900" b="1" i="0" u="none">
                <a:solidFill>
                  <a:srgbClr val="F8FAFC"/>
                </a:solidFill>
                <a:latin typeface="Inter"/>
              </a:rPr>
              <a:t>FMCG Sales &amp; Profitability Analysis</a:t>
            </a:r>
          </a:p>
        </p:txBody>
      </p:sp>
      <p:sp>
        <p:nvSpPr>
          <p:cNvPr id="10" name="TextBox 9"/>
          <p:cNvSpPr txBox="1"/>
          <p:nvPr/>
        </p:nvSpPr>
        <p:spPr>
          <a:xfrm>
            <a:off x="609600" y="3482280"/>
            <a:ext cx="11582400" cy="319980"/>
          </a:xfrm>
          <a:prstGeom prst="rect">
            <a:avLst/>
          </a:prstGeom>
          <a:noFill/>
        </p:spPr>
        <p:txBody>
          <a:bodyPr wrap="none" lIns="0" tIns="0" rIns="0" bIns="0" anchor="t">
            <a:spAutoFit/>
          </a:bodyPr>
          <a:lstStyle/>
          <a:p>
            <a:pPr algn="l">
              <a:lnSpc>
                <a:spcPts val="2520"/>
              </a:lnSpc>
            </a:pPr>
            <a:r>
              <a:rPr sz="1800" b="0" i="0" u="none">
                <a:solidFill>
                  <a:srgbClr val="94A3B8"/>
                </a:solidFill>
                <a:latin typeface="Inter"/>
              </a:rPr>
              <a:t>Identifying the Drivers of Profitable Growth</a:t>
            </a:r>
          </a:p>
        </p:txBody>
      </p:sp>
      <p:sp>
        <p:nvSpPr>
          <p:cNvPr id="11" name="TextBox 10"/>
          <p:cNvSpPr txBox="1"/>
          <p:nvPr/>
        </p:nvSpPr>
        <p:spPr>
          <a:xfrm>
            <a:off x="1066800" y="623887"/>
            <a:ext cx="3628243" cy="161925"/>
          </a:xfrm>
          <a:prstGeom prst="rect">
            <a:avLst/>
          </a:prstGeom>
          <a:noFill/>
        </p:spPr>
        <p:txBody>
          <a:bodyPr wrap="none" lIns="0" tIns="0" rIns="0" bIns="0" anchor="t">
            <a:spAutoFit/>
          </a:bodyPr>
          <a:lstStyle/>
          <a:p>
            <a:pPr algn="l"/>
            <a:r>
              <a:rPr sz="1050" b="1" i="0" u="none">
                <a:solidFill>
                  <a:srgbClr val="2DD4BF"/>
                </a:solidFill>
                <a:latin typeface="Inter"/>
              </a:rPr>
              <a:t>COMMERCIAL ANALYTICS &amp; STRATEGY</a:t>
            </a:r>
          </a:p>
        </p:txBody>
      </p:sp>
      <p:sp>
        <p:nvSpPr>
          <p:cNvPr id="12" name="TextBox 11"/>
          <p:cNvSpPr txBox="1"/>
          <p:nvPr/>
        </p:nvSpPr>
        <p:spPr>
          <a:xfrm>
            <a:off x="609600" y="4411860"/>
            <a:ext cx="3298031" cy="142875"/>
          </a:xfrm>
          <a:prstGeom prst="rect">
            <a:avLst/>
          </a:prstGeom>
          <a:noFill/>
        </p:spPr>
        <p:txBody>
          <a:bodyPr wrap="none" lIns="0" tIns="0" rIns="0" bIns="0" anchor="t">
            <a:spAutoFit/>
          </a:bodyPr>
          <a:lstStyle/>
          <a:p>
            <a:pPr algn="l"/>
            <a:r>
              <a:rPr sz="900" b="1" i="0" u="none" dirty="0">
                <a:solidFill>
                  <a:srgbClr val="64748B"/>
                </a:solidFill>
                <a:latin typeface="Inter"/>
              </a:rPr>
              <a:t>ANALYST</a:t>
            </a:r>
          </a:p>
        </p:txBody>
      </p:sp>
      <p:sp>
        <p:nvSpPr>
          <p:cNvPr id="13" name="TextBox 12"/>
          <p:cNvSpPr txBox="1"/>
          <p:nvPr/>
        </p:nvSpPr>
        <p:spPr>
          <a:xfrm>
            <a:off x="609600" y="4554735"/>
            <a:ext cx="3298031" cy="200025"/>
          </a:xfrm>
          <a:prstGeom prst="rect">
            <a:avLst/>
          </a:prstGeom>
          <a:noFill/>
        </p:spPr>
        <p:txBody>
          <a:bodyPr wrap="none" lIns="0" tIns="0" rIns="0" bIns="0" anchor="t">
            <a:spAutoFit/>
          </a:bodyPr>
          <a:lstStyle/>
          <a:p>
            <a:pPr algn="l"/>
            <a:r>
              <a:rPr sz="1350" b="1" i="0" u="none">
                <a:solidFill>
                  <a:srgbClr val="F1F5F9"/>
                </a:solidFill>
                <a:latin typeface="Inter"/>
              </a:rPr>
              <a:t>Presented by: Koushik Samanta</a:t>
            </a:r>
          </a:p>
        </p:txBody>
      </p:sp>
      <p:sp>
        <p:nvSpPr>
          <p:cNvPr id="16" name="Rectangle 15">
            <a:extLst>
              <a:ext uri="{FF2B5EF4-FFF2-40B4-BE49-F238E27FC236}">
                <a16:creationId xmlns:a16="http://schemas.microsoft.com/office/drawing/2014/main" id="{FF5E1BCA-E827-4B9B-A890-BAADB16D685E}"/>
              </a:ext>
            </a:extLst>
          </p:cNvPr>
          <p:cNvSpPr/>
          <p:nvPr/>
        </p:nvSpPr>
        <p:spPr>
          <a:xfrm>
            <a:off x="3469341" y="4329953"/>
            <a:ext cx="251012" cy="546847"/>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ounded Rectangle 2"/>
          <p:cNvSpPr/>
          <p:nvPr/>
        </p:nvSpPr>
        <p:spPr>
          <a:xfrm>
            <a:off x="609600" y="1316235"/>
            <a:ext cx="5372100" cy="904875"/>
          </a:xfrm>
          <a:prstGeom prst="roundRect">
            <a:avLst>
              <a:gd name="adj" fmla="val 842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09600" y="2373510"/>
            <a:ext cx="5372100" cy="904875"/>
          </a:xfrm>
          <a:prstGeom prst="roundRect">
            <a:avLst>
              <a:gd name="adj" fmla="val 842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09600" y="3430785"/>
            <a:ext cx="5372100" cy="742950"/>
          </a:xfrm>
          <a:prstGeom prst="roundRect">
            <a:avLst>
              <a:gd name="adj" fmla="val 1025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09600" y="4326135"/>
            <a:ext cx="5372100" cy="742950"/>
          </a:xfrm>
          <a:prstGeom prst="roundRect">
            <a:avLst>
              <a:gd name="adj" fmla="val 1025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210300" y="1316235"/>
            <a:ext cx="5372100" cy="742950"/>
          </a:xfrm>
          <a:prstGeom prst="roundRect">
            <a:avLst>
              <a:gd name="adj" fmla="val 1025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210300" y="2211585"/>
            <a:ext cx="5372100" cy="904875"/>
          </a:xfrm>
          <a:prstGeom prst="roundRect">
            <a:avLst>
              <a:gd name="adj" fmla="val 842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210300" y="3268860"/>
            <a:ext cx="5372100" cy="923925"/>
          </a:xfrm>
          <a:prstGeom prst="roundRect">
            <a:avLst>
              <a:gd name="adj" fmla="val 8247"/>
            </a:avLst>
          </a:prstGeom>
          <a:solidFill>
            <a:srgbClr val="F0FDFA"/>
          </a:solidFill>
          <a:ln w="1905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09625" y="1597223"/>
            <a:ext cx="329803" cy="342900"/>
          </a:xfrm>
          <a:prstGeom prst="roundRect">
            <a:avLst>
              <a:gd name="adj" fmla="val 50000"/>
            </a:avLst>
          </a:prstGeom>
          <a:solidFill>
            <a:srgbClr val="0F2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09625" y="2654498"/>
            <a:ext cx="335012" cy="342900"/>
          </a:xfrm>
          <a:prstGeom prst="roundRect">
            <a:avLst>
              <a:gd name="adj" fmla="val 50000"/>
            </a:avLst>
          </a:prstGeom>
          <a:solidFill>
            <a:srgbClr val="0F2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809625" y="3630810"/>
            <a:ext cx="342900" cy="342900"/>
          </a:xfrm>
          <a:prstGeom prst="roundRect">
            <a:avLst>
              <a:gd name="adj" fmla="val 50000"/>
            </a:avLst>
          </a:prstGeom>
          <a:solidFill>
            <a:srgbClr val="0F2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09625" y="4526160"/>
            <a:ext cx="342900" cy="342900"/>
          </a:xfrm>
          <a:prstGeom prst="roundRect">
            <a:avLst>
              <a:gd name="adj" fmla="val 50000"/>
            </a:avLst>
          </a:prstGeom>
          <a:solidFill>
            <a:srgbClr val="0F2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410325" y="1516260"/>
            <a:ext cx="342900" cy="342900"/>
          </a:xfrm>
          <a:prstGeom prst="roundRect">
            <a:avLst>
              <a:gd name="adj" fmla="val 5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410325" y="2492573"/>
            <a:ext cx="308669" cy="342900"/>
          </a:xfrm>
          <a:prstGeom prst="roundRect">
            <a:avLst>
              <a:gd name="adj" fmla="val 5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419850" y="3559373"/>
            <a:ext cx="314176" cy="342900"/>
          </a:xfrm>
          <a:prstGeom prst="roundRect">
            <a:avLst>
              <a:gd name="adj" fmla="val 5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09600" y="457200"/>
            <a:ext cx="4452937" cy="152400"/>
          </a:xfrm>
          <a:prstGeom prst="rect">
            <a:avLst/>
          </a:prstGeom>
          <a:noFill/>
        </p:spPr>
        <p:txBody>
          <a:bodyPr wrap="none" lIns="0" tIns="0" rIns="0" bIns="0" anchor="t">
            <a:spAutoFit/>
          </a:bodyPr>
          <a:lstStyle/>
          <a:p>
            <a:pPr algn="l"/>
            <a:r>
              <a:rPr sz="975" b="1" i="0" u="none">
                <a:solidFill>
                  <a:srgbClr val="0D9488"/>
                </a:solidFill>
                <a:latin typeface="Inter"/>
              </a:rPr>
              <a:t>EXECUTIVE AGENDA</a:t>
            </a:r>
          </a:p>
        </p:txBody>
      </p:sp>
      <p:sp>
        <p:nvSpPr>
          <p:cNvPr id="19" name="TextBox 18"/>
          <p:cNvSpPr txBox="1"/>
          <p:nvPr/>
        </p:nvSpPr>
        <p:spPr>
          <a:xfrm>
            <a:off x="609600" y="638175"/>
            <a:ext cx="4675584" cy="297060"/>
          </a:xfrm>
          <a:prstGeom prst="rect">
            <a:avLst/>
          </a:prstGeom>
          <a:noFill/>
        </p:spPr>
        <p:txBody>
          <a:bodyPr wrap="none" lIns="0" tIns="0" rIns="0" bIns="0" anchor="t">
            <a:spAutoFit/>
          </a:bodyPr>
          <a:lstStyle/>
          <a:p>
            <a:pPr algn="l">
              <a:lnSpc>
                <a:spcPts val="2340"/>
              </a:lnSpc>
            </a:pPr>
            <a:r>
              <a:rPr sz="1950" b="1" i="0" u="none">
                <a:solidFill>
                  <a:srgbClr val="0F2042"/>
                </a:solidFill>
                <a:latin typeface="Inter"/>
              </a:rPr>
              <a:t>Contents &amp; Presentation Flow</a:t>
            </a:r>
          </a:p>
        </p:txBody>
      </p:sp>
      <p:sp>
        <p:nvSpPr>
          <p:cNvPr id="20" name="TextBox 19"/>
          <p:cNvSpPr txBox="1"/>
          <p:nvPr/>
        </p:nvSpPr>
        <p:spPr>
          <a:xfrm>
            <a:off x="666750" y="1597223"/>
            <a:ext cx="615553" cy="342900"/>
          </a:xfrm>
          <a:prstGeom prst="rect">
            <a:avLst/>
          </a:prstGeom>
          <a:noFill/>
        </p:spPr>
        <p:txBody>
          <a:bodyPr wrap="square" lIns="0" tIns="0" rIns="0" bIns="0" anchor="ctr">
            <a:spAutoFit/>
          </a:bodyPr>
          <a:lstStyle/>
          <a:p>
            <a:pPr algn="ctr"/>
            <a:r>
              <a:rPr sz="1125" b="1" i="0" u="none">
                <a:solidFill>
                  <a:srgbClr val="FFFFFF"/>
                </a:solidFill>
                <a:latin typeface="Inter"/>
              </a:rPr>
              <a:t>01</a:t>
            </a:r>
          </a:p>
        </p:txBody>
      </p:sp>
      <p:sp>
        <p:nvSpPr>
          <p:cNvPr id="21" name="TextBox 20"/>
          <p:cNvSpPr txBox="1"/>
          <p:nvPr/>
        </p:nvSpPr>
        <p:spPr>
          <a:xfrm>
            <a:off x="666750" y="2654498"/>
            <a:ext cx="620762" cy="342900"/>
          </a:xfrm>
          <a:prstGeom prst="rect">
            <a:avLst/>
          </a:prstGeom>
          <a:noFill/>
        </p:spPr>
        <p:txBody>
          <a:bodyPr wrap="square" lIns="0" tIns="0" rIns="0" bIns="0" anchor="ctr">
            <a:spAutoFit/>
          </a:bodyPr>
          <a:lstStyle/>
          <a:p>
            <a:pPr algn="ctr"/>
            <a:r>
              <a:rPr sz="1125" b="1" i="0" u="none">
                <a:solidFill>
                  <a:srgbClr val="FFFFFF"/>
                </a:solidFill>
                <a:latin typeface="Inter"/>
              </a:rPr>
              <a:t>02</a:t>
            </a:r>
          </a:p>
        </p:txBody>
      </p:sp>
      <p:sp>
        <p:nvSpPr>
          <p:cNvPr id="22" name="TextBox 21"/>
          <p:cNvSpPr txBox="1"/>
          <p:nvPr/>
        </p:nvSpPr>
        <p:spPr>
          <a:xfrm>
            <a:off x="666750" y="3630810"/>
            <a:ext cx="628650" cy="342900"/>
          </a:xfrm>
          <a:prstGeom prst="rect">
            <a:avLst/>
          </a:prstGeom>
          <a:noFill/>
        </p:spPr>
        <p:txBody>
          <a:bodyPr wrap="square" lIns="0" tIns="0" rIns="0" bIns="0" anchor="ctr">
            <a:spAutoFit/>
          </a:bodyPr>
          <a:lstStyle/>
          <a:p>
            <a:pPr algn="ctr"/>
            <a:r>
              <a:rPr sz="1125" b="1" i="0" u="none">
                <a:solidFill>
                  <a:srgbClr val="FFFFFF"/>
                </a:solidFill>
                <a:latin typeface="Inter"/>
              </a:rPr>
              <a:t>03</a:t>
            </a:r>
          </a:p>
        </p:txBody>
      </p:sp>
      <p:sp>
        <p:nvSpPr>
          <p:cNvPr id="23" name="TextBox 22"/>
          <p:cNvSpPr txBox="1"/>
          <p:nvPr/>
        </p:nvSpPr>
        <p:spPr>
          <a:xfrm>
            <a:off x="666750" y="4526160"/>
            <a:ext cx="628650" cy="342900"/>
          </a:xfrm>
          <a:prstGeom prst="rect">
            <a:avLst/>
          </a:prstGeom>
          <a:noFill/>
        </p:spPr>
        <p:txBody>
          <a:bodyPr wrap="square" lIns="0" tIns="0" rIns="0" bIns="0" anchor="ctr">
            <a:spAutoFit/>
          </a:bodyPr>
          <a:lstStyle/>
          <a:p>
            <a:pPr algn="ctr"/>
            <a:r>
              <a:rPr sz="1125" b="1" i="0" u="none">
                <a:solidFill>
                  <a:srgbClr val="FFFFFF"/>
                </a:solidFill>
                <a:latin typeface="Inter"/>
              </a:rPr>
              <a:t>04</a:t>
            </a:r>
          </a:p>
        </p:txBody>
      </p:sp>
      <p:sp>
        <p:nvSpPr>
          <p:cNvPr id="24" name="TextBox 23"/>
          <p:cNvSpPr txBox="1"/>
          <p:nvPr/>
        </p:nvSpPr>
        <p:spPr>
          <a:xfrm>
            <a:off x="6267450" y="1516260"/>
            <a:ext cx="628650" cy="342900"/>
          </a:xfrm>
          <a:prstGeom prst="rect">
            <a:avLst/>
          </a:prstGeom>
          <a:noFill/>
        </p:spPr>
        <p:txBody>
          <a:bodyPr wrap="square" lIns="0" tIns="0" rIns="0" bIns="0" anchor="ctr">
            <a:spAutoFit/>
          </a:bodyPr>
          <a:lstStyle/>
          <a:p>
            <a:pPr algn="ctr"/>
            <a:r>
              <a:rPr sz="1125" b="1" i="0" u="none">
                <a:solidFill>
                  <a:srgbClr val="FFFFFF"/>
                </a:solidFill>
                <a:latin typeface="Inter"/>
              </a:rPr>
              <a:t>05</a:t>
            </a:r>
          </a:p>
        </p:txBody>
      </p:sp>
      <p:sp>
        <p:nvSpPr>
          <p:cNvPr id="25" name="TextBox 24"/>
          <p:cNvSpPr txBox="1"/>
          <p:nvPr/>
        </p:nvSpPr>
        <p:spPr>
          <a:xfrm>
            <a:off x="6267450" y="2492573"/>
            <a:ext cx="594419" cy="342900"/>
          </a:xfrm>
          <a:prstGeom prst="rect">
            <a:avLst/>
          </a:prstGeom>
          <a:noFill/>
        </p:spPr>
        <p:txBody>
          <a:bodyPr wrap="square" lIns="0" tIns="0" rIns="0" bIns="0" anchor="ctr">
            <a:spAutoFit/>
          </a:bodyPr>
          <a:lstStyle/>
          <a:p>
            <a:pPr algn="ctr"/>
            <a:r>
              <a:rPr sz="1125" b="1" i="0" u="none">
                <a:solidFill>
                  <a:srgbClr val="FFFFFF"/>
                </a:solidFill>
                <a:latin typeface="Inter"/>
              </a:rPr>
              <a:t>06</a:t>
            </a:r>
          </a:p>
        </p:txBody>
      </p:sp>
      <p:sp>
        <p:nvSpPr>
          <p:cNvPr id="26" name="TextBox 25"/>
          <p:cNvSpPr txBox="1"/>
          <p:nvPr/>
        </p:nvSpPr>
        <p:spPr>
          <a:xfrm>
            <a:off x="6276975" y="3559373"/>
            <a:ext cx="599926" cy="342900"/>
          </a:xfrm>
          <a:prstGeom prst="rect">
            <a:avLst/>
          </a:prstGeom>
          <a:noFill/>
        </p:spPr>
        <p:txBody>
          <a:bodyPr wrap="square" lIns="0" tIns="0" rIns="0" bIns="0" anchor="ctr">
            <a:spAutoFit/>
          </a:bodyPr>
          <a:lstStyle/>
          <a:p>
            <a:pPr algn="ctr"/>
            <a:r>
              <a:rPr sz="1125" b="1" i="0" u="none">
                <a:solidFill>
                  <a:srgbClr val="FFFFFF"/>
                </a:solidFill>
                <a:latin typeface="Inter"/>
              </a:rPr>
              <a:t>07</a:t>
            </a:r>
          </a:p>
        </p:txBody>
      </p:sp>
      <p:sp>
        <p:nvSpPr>
          <p:cNvPr id="27" name="TextBox 26"/>
          <p:cNvSpPr txBox="1"/>
          <p:nvPr/>
        </p:nvSpPr>
        <p:spPr>
          <a:xfrm>
            <a:off x="1291828" y="1497210"/>
            <a:ext cx="5892924" cy="200025"/>
          </a:xfrm>
          <a:prstGeom prst="rect">
            <a:avLst/>
          </a:prstGeom>
          <a:noFill/>
        </p:spPr>
        <p:txBody>
          <a:bodyPr wrap="none" lIns="0" tIns="0" rIns="0" bIns="0" anchor="t">
            <a:spAutoFit/>
          </a:bodyPr>
          <a:lstStyle/>
          <a:p>
            <a:pPr algn="l"/>
            <a:r>
              <a:rPr sz="1350" b="1" i="0" u="none">
                <a:solidFill>
                  <a:srgbClr val="0F2042"/>
                </a:solidFill>
                <a:latin typeface="Inter"/>
              </a:rPr>
              <a:t>Business Context</a:t>
            </a:r>
          </a:p>
        </p:txBody>
      </p:sp>
      <p:sp>
        <p:nvSpPr>
          <p:cNvPr id="28" name="TextBox 27"/>
          <p:cNvSpPr txBox="1"/>
          <p:nvPr/>
        </p:nvSpPr>
        <p:spPr>
          <a:xfrm>
            <a:off x="1291828" y="1716285"/>
            <a:ext cx="4585096" cy="323850"/>
          </a:xfrm>
          <a:prstGeom prst="rect">
            <a:avLst/>
          </a:prstGeom>
          <a:noFill/>
        </p:spPr>
        <p:txBody>
          <a:bodyPr wrap="square" lIns="0" tIns="0" rIns="0" bIns="0" anchor="t">
            <a:spAutoFit/>
          </a:bodyPr>
          <a:lstStyle/>
          <a:p>
            <a:pPr algn="l"/>
            <a:r>
              <a:rPr sz="1050" b="0" i="0" u="none">
                <a:solidFill>
                  <a:srgbClr val="64748B"/>
                </a:solidFill>
                <a:latin typeface="Inter"/>
              </a:rPr>
              <a:t>Market presence, commercial scope, and current reporting silo challenges.</a:t>
            </a:r>
          </a:p>
        </p:txBody>
      </p:sp>
      <p:sp>
        <p:nvSpPr>
          <p:cNvPr id="29" name="TextBox 28"/>
          <p:cNvSpPr txBox="1"/>
          <p:nvPr/>
        </p:nvSpPr>
        <p:spPr>
          <a:xfrm>
            <a:off x="1297037" y="2554485"/>
            <a:ext cx="5886087" cy="200025"/>
          </a:xfrm>
          <a:prstGeom prst="rect">
            <a:avLst/>
          </a:prstGeom>
          <a:noFill/>
        </p:spPr>
        <p:txBody>
          <a:bodyPr wrap="none" lIns="0" tIns="0" rIns="0" bIns="0" anchor="t">
            <a:spAutoFit/>
          </a:bodyPr>
          <a:lstStyle/>
          <a:p>
            <a:pPr algn="l"/>
            <a:r>
              <a:rPr sz="1350" b="1" i="0" u="none">
                <a:solidFill>
                  <a:srgbClr val="0F2042"/>
                </a:solidFill>
                <a:latin typeface="Inter"/>
              </a:rPr>
              <a:t>Business Problem</a:t>
            </a:r>
          </a:p>
        </p:txBody>
      </p:sp>
      <p:sp>
        <p:nvSpPr>
          <p:cNvPr id="30" name="TextBox 29"/>
          <p:cNvSpPr txBox="1"/>
          <p:nvPr/>
        </p:nvSpPr>
        <p:spPr>
          <a:xfrm>
            <a:off x="1297037" y="2773560"/>
            <a:ext cx="4579887" cy="323850"/>
          </a:xfrm>
          <a:prstGeom prst="rect">
            <a:avLst/>
          </a:prstGeom>
          <a:noFill/>
        </p:spPr>
        <p:txBody>
          <a:bodyPr wrap="square" lIns="0" tIns="0" rIns="0" bIns="0" anchor="t">
            <a:spAutoFit/>
          </a:bodyPr>
          <a:lstStyle/>
          <a:p>
            <a:pPr algn="l"/>
            <a:r>
              <a:rPr sz="1050" b="0" i="0" u="none">
                <a:solidFill>
                  <a:srgbClr val="64748B"/>
                </a:solidFill>
                <a:latin typeface="Inter"/>
              </a:rPr>
              <a:t>Unmonitored discount growth and opacity around true profit contributors.</a:t>
            </a:r>
          </a:p>
        </p:txBody>
      </p:sp>
      <p:sp>
        <p:nvSpPr>
          <p:cNvPr id="31" name="TextBox 30"/>
          <p:cNvSpPr txBox="1"/>
          <p:nvPr/>
        </p:nvSpPr>
        <p:spPr>
          <a:xfrm>
            <a:off x="1304925" y="3611760"/>
            <a:ext cx="5213151" cy="200025"/>
          </a:xfrm>
          <a:prstGeom prst="rect">
            <a:avLst/>
          </a:prstGeom>
          <a:noFill/>
        </p:spPr>
        <p:txBody>
          <a:bodyPr wrap="none" lIns="0" tIns="0" rIns="0" bIns="0" anchor="t">
            <a:spAutoFit/>
          </a:bodyPr>
          <a:lstStyle/>
          <a:p>
            <a:pPr algn="l"/>
            <a:r>
              <a:rPr sz="1350" b="1" i="0" u="none">
                <a:solidFill>
                  <a:srgbClr val="0F2042"/>
                </a:solidFill>
                <a:latin typeface="Inter"/>
              </a:rPr>
              <a:t>Business Objective</a:t>
            </a:r>
          </a:p>
        </p:txBody>
      </p:sp>
      <p:sp>
        <p:nvSpPr>
          <p:cNvPr id="32" name="TextBox 31"/>
          <p:cNvSpPr txBox="1"/>
          <p:nvPr/>
        </p:nvSpPr>
        <p:spPr>
          <a:xfrm>
            <a:off x="1304925" y="3830835"/>
            <a:ext cx="4964906" cy="161925"/>
          </a:xfrm>
          <a:prstGeom prst="rect">
            <a:avLst/>
          </a:prstGeom>
          <a:noFill/>
        </p:spPr>
        <p:txBody>
          <a:bodyPr wrap="none" lIns="0" tIns="0" rIns="0" bIns="0" anchor="t">
            <a:spAutoFit/>
          </a:bodyPr>
          <a:lstStyle/>
          <a:p>
            <a:pPr algn="l"/>
            <a:r>
              <a:rPr sz="1050" b="0" i="0" u="none">
                <a:solidFill>
                  <a:srgbClr val="64748B"/>
                </a:solidFill>
                <a:latin typeface="Inter"/>
              </a:rPr>
              <a:t>Multi-dimensional diagnostic to prioritize actionable QBR levers.</a:t>
            </a:r>
          </a:p>
        </p:txBody>
      </p:sp>
      <p:sp>
        <p:nvSpPr>
          <p:cNvPr id="33" name="TextBox 32"/>
          <p:cNvSpPr txBox="1"/>
          <p:nvPr/>
        </p:nvSpPr>
        <p:spPr>
          <a:xfrm>
            <a:off x="1304925" y="4507110"/>
            <a:ext cx="5088135" cy="200025"/>
          </a:xfrm>
          <a:prstGeom prst="rect">
            <a:avLst/>
          </a:prstGeom>
          <a:noFill/>
        </p:spPr>
        <p:txBody>
          <a:bodyPr wrap="none" lIns="0" tIns="0" rIns="0" bIns="0" anchor="t">
            <a:spAutoFit/>
          </a:bodyPr>
          <a:lstStyle/>
          <a:p>
            <a:pPr algn="l"/>
            <a:r>
              <a:rPr sz="1350" b="1" i="0" u="none">
                <a:solidFill>
                  <a:srgbClr val="0F2042"/>
                </a:solidFill>
                <a:latin typeface="Inter"/>
              </a:rPr>
              <a:t>Dataset &amp; Analysis Questions</a:t>
            </a:r>
          </a:p>
        </p:txBody>
      </p:sp>
      <p:sp>
        <p:nvSpPr>
          <p:cNvPr id="34" name="TextBox 33"/>
          <p:cNvSpPr txBox="1"/>
          <p:nvPr/>
        </p:nvSpPr>
        <p:spPr>
          <a:xfrm>
            <a:off x="1304925" y="4726185"/>
            <a:ext cx="4845843" cy="161925"/>
          </a:xfrm>
          <a:prstGeom prst="rect">
            <a:avLst/>
          </a:prstGeom>
          <a:noFill/>
        </p:spPr>
        <p:txBody>
          <a:bodyPr wrap="none" lIns="0" tIns="0" rIns="0" bIns="0" anchor="t">
            <a:spAutoFit/>
          </a:bodyPr>
          <a:lstStyle/>
          <a:p>
            <a:pPr algn="l"/>
            <a:r>
              <a:rPr sz="1050" b="0" i="0" u="none">
                <a:solidFill>
                  <a:srgbClr val="64748B"/>
                </a:solidFill>
                <a:latin typeface="Inter"/>
              </a:rPr>
              <a:t>100k-row star schema model and 8 core diagnostic questions.</a:t>
            </a:r>
          </a:p>
        </p:txBody>
      </p:sp>
      <p:sp>
        <p:nvSpPr>
          <p:cNvPr id="35" name="TextBox 34"/>
          <p:cNvSpPr txBox="1"/>
          <p:nvPr/>
        </p:nvSpPr>
        <p:spPr>
          <a:xfrm>
            <a:off x="6905625" y="1497210"/>
            <a:ext cx="5286375" cy="200025"/>
          </a:xfrm>
          <a:prstGeom prst="rect">
            <a:avLst/>
          </a:prstGeom>
          <a:noFill/>
        </p:spPr>
        <p:txBody>
          <a:bodyPr wrap="none" lIns="0" tIns="0" rIns="0" bIns="0" anchor="t">
            <a:spAutoFit/>
          </a:bodyPr>
          <a:lstStyle/>
          <a:p>
            <a:pPr algn="l"/>
            <a:r>
              <a:rPr sz="1350" b="1" i="0" u="none">
                <a:solidFill>
                  <a:srgbClr val="0F2042"/>
                </a:solidFill>
                <a:latin typeface="Inter"/>
              </a:rPr>
              <a:t>KPIs</a:t>
            </a:r>
          </a:p>
        </p:txBody>
      </p:sp>
      <p:sp>
        <p:nvSpPr>
          <p:cNvPr id="36" name="TextBox 35"/>
          <p:cNvSpPr txBox="1"/>
          <p:nvPr/>
        </p:nvSpPr>
        <p:spPr>
          <a:xfrm>
            <a:off x="6905625" y="1716285"/>
            <a:ext cx="5286375" cy="161925"/>
          </a:xfrm>
          <a:prstGeom prst="rect">
            <a:avLst/>
          </a:prstGeom>
          <a:noFill/>
        </p:spPr>
        <p:txBody>
          <a:bodyPr wrap="none" lIns="0" tIns="0" rIns="0" bIns="0" anchor="t">
            <a:spAutoFit/>
          </a:bodyPr>
          <a:lstStyle/>
          <a:p>
            <a:pPr algn="l"/>
            <a:r>
              <a:rPr sz="1050" b="0" i="0" u="none">
                <a:solidFill>
                  <a:srgbClr val="64748B"/>
                </a:solidFill>
                <a:latin typeface="Inter"/>
              </a:rPr>
              <a:t>Enterprise baseline metrics, discount efficiency ratio, and dilution count.</a:t>
            </a:r>
          </a:p>
        </p:txBody>
      </p:sp>
      <p:sp>
        <p:nvSpPr>
          <p:cNvPr id="37" name="TextBox 36"/>
          <p:cNvSpPr txBox="1"/>
          <p:nvPr/>
        </p:nvSpPr>
        <p:spPr>
          <a:xfrm>
            <a:off x="6871394" y="2392560"/>
            <a:ext cx="5320605" cy="200025"/>
          </a:xfrm>
          <a:prstGeom prst="rect">
            <a:avLst/>
          </a:prstGeom>
          <a:noFill/>
        </p:spPr>
        <p:txBody>
          <a:bodyPr wrap="none" lIns="0" tIns="0" rIns="0" bIns="0" anchor="t">
            <a:spAutoFit/>
          </a:bodyPr>
          <a:lstStyle/>
          <a:p>
            <a:pPr algn="l"/>
            <a:r>
              <a:rPr sz="1350" b="1" i="0" u="none">
                <a:solidFill>
                  <a:srgbClr val="0F2042"/>
                </a:solidFill>
                <a:latin typeface="Inter"/>
              </a:rPr>
              <a:t>Key Findings</a:t>
            </a:r>
          </a:p>
        </p:txBody>
      </p:sp>
      <p:sp>
        <p:nvSpPr>
          <p:cNvPr id="38" name="TextBox 37"/>
          <p:cNvSpPr txBox="1"/>
          <p:nvPr/>
        </p:nvSpPr>
        <p:spPr>
          <a:xfrm>
            <a:off x="6871394" y="2611635"/>
            <a:ext cx="4606230" cy="323850"/>
          </a:xfrm>
          <a:prstGeom prst="rect">
            <a:avLst/>
          </a:prstGeom>
          <a:noFill/>
        </p:spPr>
        <p:txBody>
          <a:bodyPr wrap="square" lIns="0" tIns="0" rIns="0" bIns="0" anchor="t">
            <a:spAutoFit/>
          </a:bodyPr>
          <a:lstStyle/>
          <a:p>
            <a:pPr algn="l"/>
            <a:r>
              <a:rPr sz="1050" b="0" i="0" u="none">
                <a:solidFill>
                  <a:srgbClr val="64748B"/>
                </a:solidFill>
                <a:latin typeface="Inter"/>
              </a:rPr>
              <a:t>Evidence-backed insights across regions, channels, categories, and promotions.</a:t>
            </a:r>
          </a:p>
        </p:txBody>
      </p:sp>
      <p:sp>
        <p:nvSpPr>
          <p:cNvPr id="39" name="TextBox 38"/>
          <p:cNvSpPr txBox="1"/>
          <p:nvPr/>
        </p:nvSpPr>
        <p:spPr>
          <a:xfrm>
            <a:off x="6886426" y="3459360"/>
            <a:ext cx="5305573" cy="200025"/>
          </a:xfrm>
          <a:prstGeom prst="rect">
            <a:avLst/>
          </a:prstGeom>
          <a:noFill/>
        </p:spPr>
        <p:txBody>
          <a:bodyPr wrap="none" lIns="0" tIns="0" rIns="0" bIns="0" anchor="t">
            <a:spAutoFit/>
          </a:bodyPr>
          <a:lstStyle/>
          <a:p>
            <a:pPr algn="l"/>
            <a:r>
              <a:rPr sz="1350" b="1" i="0" u="none">
                <a:solidFill>
                  <a:srgbClr val="0F2042"/>
                </a:solidFill>
                <a:latin typeface="Inter"/>
              </a:rPr>
              <a:t>Key Takeaways &amp; Top Commercial Levers</a:t>
            </a:r>
          </a:p>
        </p:txBody>
      </p:sp>
      <p:sp>
        <p:nvSpPr>
          <p:cNvPr id="40" name="TextBox 39"/>
          <p:cNvSpPr txBox="1"/>
          <p:nvPr/>
        </p:nvSpPr>
        <p:spPr>
          <a:xfrm>
            <a:off x="6886426" y="3678435"/>
            <a:ext cx="4581673" cy="323850"/>
          </a:xfrm>
          <a:prstGeom prst="rect">
            <a:avLst/>
          </a:prstGeom>
          <a:noFill/>
        </p:spPr>
        <p:txBody>
          <a:bodyPr wrap="square" lIns="0" tIns="0" rIns="0" bIns="0" anchor="t">
            <a:spAutoFit/>
          </a:bodyPr>
          <a:lstStyle/>
          <a:p>
            <a:pPr algn="l"/>
            <a:r>
              <a:rPr sz="1050" b="0" i="0" u="none">
                <a:solidFill>
                  <a:srgbClr val="0F766E"/>
                </a:solidFill>
                <a:latin typeface="Inter"/>
              </a:rPr>
              <a:t>Three prioritized strategic interventions to protect and expand gross margin.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ounded Rectangle 2"/>
          <p:cNvSpPr/>
          <p:nvPr/>
        </p:nvSpPr>
        <p:spPr>
          <a:xfrm>
            <a:off x="609600" y="1566788"/>
            <a:ext cx="3530649" cy="4699396"/>
          </a:xfrm>
          <a:prstGeom prst="roundRect">
            <a:avLst>
              <a:gd name="adj" fmla="val 2158"/>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30749" y="1566788"/>
            <a:ext cx="3530649" cy="4699396"/>
          </a:xfrm>
          <a:prstGeom prst="roundRect">
            <a:avLst>
              <a:gd name="adj" fmla="val 2158"/>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051899" y="1566788"/>
            <a:ext cx="3530649" cy="4699396"/>
          </a:xfrm>
          <a:prstGeom prst="roundRect">
            <a:avLst>
              <a:gd name="adj" fmla="val 2158"/>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09600" y="6256660"/>
            <a:ext cx="3530649"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09600" y="1566788"/>
            <a:ext cx="3530649" cy="38100"/>
          </a:xfrm>
          <a:prstGeom prst="rect">
            <a:avLst/>
          </a:prstGeom>
          <a:solidFill>
            <a:srgbClr val="0F2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09600" y="1566788"/>
            <a:ext cx="9525" cy="4699396"/>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130724" y="1566788"/>
            <a:ext cx="9525" cy="4699396"/>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30749" y="6256660"/>
            <a:ext cx="3530649"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30749" y="1566788"/>
            <a:ext cx="3530649" cy="3810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30749" y="1566788"/>
            <a:ext cx="9525" cy="4699396"/>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851874" y="1566788"/>
            <a:ext cx="9525" cy="4699396"/>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51899" y="6256660"/>
            <a:ext cx="3530649"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51899" y="1566788"/>
            <a:ext cx="3530649"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51899" y="1566788"/>
            <a:ext cx="9525" cy="4699396"/>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1573023" y="1566788"/>
            <a:ext cx="9525" cy="4699396"/>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image.png"/>
          <p:cNvPicPr>
            <a:picLocks noChangeAspect="1"/>
          </p:cNvPicPr>
          <p:nvPr/>
        </p:nvPicPr>
        <p:blipFill>
          <a:blip r:embed="rId2"/>
          <a:stretch>
            <a:fillRect/>
          </a:stretch>
        </p:blipFill>
        <p:spPr>
          <a:xfrm>
            <a:off x="847725" y="1833488"/>
            <a:ext cx="323850" cy="323850"/>
          </a:xfrm>
          <a:prstGeom prst="rect">
            <a:avLst/>
          </a:prstGeom>
        </p:spPr>
      </p:pic>
      <p:pic>
        <p:nvPicPr>
          <p:cNvPr id="20" name="Picture 19" descr="image.png"/>
          <p:cNvPicPr>
            <a:picLocks noChangeAspect="1"/>
          </p:cNvPicPr>
          <p:nvPr/>
        </p:nvPicPr>
        <p:blipFill>
          <a:blip r:embed="rId3"/>
          <a:stretch>
            <a:fillRect/>
          </a:stretch>
        </p:blipFill>
        <p:spPr>
          <a:xfrm>
            <a:off x="4568874" y="1833488"/>
            <a:ext cx="323850" cy="323850"/>
          </a:xfrm>
          <a:prstGeom prst="rect">
            <a:avLst/>
          </a:prstGeom>
        </p:spPr>
      </p:pic>
      <p:pic>
        <p:nvPicPr>
          <p:cNvPr id="21" name="Picture 20" descr="image.png"/>
          <p:cNvPicPr>
            <a:picLocks noChangeAspect="1"/>
          </p:cNvPicPr>
          <p:nvPr/>
        </p:nvPicPr>
        <p:blipFill>
          <a:blip r:embed="rId4"/>
          <a:stretch>
            <a:fillRect/>
          </a:stretch>
        </p:blipFill>
        <p:spPr>
          <a:xfrm>
            <a:off x="8290024" y="1833488"/>
            <a:ext cx="323850" cy="323850"/>
          </a:xfrm>
          <a:prstGeom prst="rect">
            <a:avLst/>
          </a:prstGeom>
        </p:spPr>
      </p:pic>
      <p:pic>
        <p:nvPicPr>
          <p:cNvPr id="22" name="Picture 21" descr="image.png"/>
          <p:cNvPicPr>
            <a:picLocks noChangeAspect="1"/>
          </p:cNvPicPr>
          <p:nvPr/>
        </p:nvPicPr>
        <p:blipFill>
          <a:blip r:embed="rId5"/>
          <a:stretch>
            <a:fillRect/>
          </a:stretch>
        </p:blipFill>
        <p:spPr>
          <a:xfrm>
            <a:off x="938212" y="1923976"/>
            <a:ext cx="142875" cy="142875"/>
          </a:xfrm>
          <a:prstGeom prst="rect">
            <a:avLst/>
          </a:prstGeom>
        </p:spPr>
      </p:pic>
      <p:pic>
        <p:nvPicPr>
          <p:cNvPr id="23" name="Picture 22" descr="image.png"/>
          <p:cNvPicPr>
            <a:picLocks noChangeAspect="1"/>
          </p:cNvPicPr>
          <p:nvPr/>
        </p:nvPicPr>
        <p:blipFill>
          <a:blip r:embed="rId6"/>
          <a:stretch>
            <a:fillRect/>
          </a:stretch>
        </p:blipFill>
        <p:spPr>
          <a:xfrm>
            <a:off x="4659362" y="1923976"/>
            <a:ext cx="142875" cy="142875"/>
          </a:xfrm>
          <a:prstGeom prst="rect">
            <a:avLst/>
          </a:prstGeom>
        </p:spPr>
      </p:pic>
      <p:pic>
        <p:nvPicPr>
          <p:cNvPr id="24" name="Picture 23" descr="image.png"/>
          <p:cNvPicPr>
            <a:picLocks noChangeAspect="1"/>
          </p:cNvPicPr>
          <p:nvPr/>
        </p:nvPicPr>
        <p:blipFill>
          <a:blip r:embed="rId7"/>
          <a:stretch>
            <a:fillRect/>
          </a:stretch>
        </p:blipFill>
        <p:spPr>
          <a:xfrm>
            <a:off x="8380511" y="1923976"/>
            <a:ext cx="142875" cy="142875"/>
          </a:xfrm>
          <a:prstGeom prst="rect">
            <a:avLst/>
          </a:prstGeom>
        </p:spPr>
      </p:pic>
      <p:sp>
        <p:nvSpPr>
          <p:cNvPr id="29" name="TextBox 28"/>
          <p:cNvSpPr txBox="1"/>
          <p:nvPr/>
        </p:nvSpPr>
        <p:spPr>
          <a:xfrm>
            <a:off x="847725" y="2309738"/>
            <a:ext cx="3149649" cy="3718321"/>
          </a:xfrm>
          <a:prstGeom prst="rect">
            <a:avLst/>
          </a:prstGeom>
          <a:noFill/>
        </p:spPr>
        <p:txBody>
          <a:bodyPr wrap="square" lIns="0" tIns="0" rIns="0" bIns="0" anchor="t">
            <a:spAutoFit/>
          </a:bodyPr>
          <a:lstStyle/>
          <a:p>
            <a:pPr algn="l">
              <a:lnSpc>
                <a:spcPts val="1627"/>
              </a:lnSpc>
            </a:pPr>
            <a:r>
              <a:rPr sz="1050" b="0" i="0" u="none">
                <a:solidFill>
                  <a:srgbClr val="334155"/>
                </a:solidFill>
                <a:latin typeface="Inter"/>
              </a:rPr>
              <a:t>The company sells FMCG products across multiple categories, brands and SKUs, distributed through General Trade ,Modern Trade &amp; E commerce channels across several regions and states. Sales volumes have grown, but management has noticed that revenue growth is not consistently translating into proportional gross-profit growth, and discounting activity has increased without a clear read on its return. Category, channel and regional teams currently report performance in isolation, so leadership lacks one consolidated view of where sales are genuinely profitable versus where they are being sustained by margin-eroding discounts. This analysis is commissioned to give the commercial leadership team a single, decision-ready view ahead of the quarterly business review.</a:t>
            </a:r>
          </a:p>
        </p:txBody>
      </p:sp>
      <p:sp>
        <p:nvSpPr>
          <p:cNvPr id="30" name="TextBox 29"/>
          <p:cNvSpPr txBox="1"/>
          <p:nvPr/>
        </p:nvSpPr>
        <p:spPr>
          <a:xfrm>
            <a:off x="4568874" y="2309738"/>
            <a:ext cx="3149649" cy="1652587"/>
          </a:xfrm>
          <a:prstGeom prst="rect">
            <a:avLst/>
          </a:prstGeom>
          <a:noFill/>
        </p:spPr>
        <p:txBody>
          <a:bodyPr wrap="square" lIns="0" tIns="0" rIns="0" bIns="0" anchor="t">
            <a:spAutoFit/>
          </a:bodyPr>
          <a:lstStyle/>
          <a:p>
            <a:pPr algn="l">
              <a:lnSpc>
                <a:spcPts val="1627"/>
              </a:lnSpc>
            </a:pPr>
            <a:r>
              <a:rPr sz="1050" b="0" i="0" u="none">
                <a:solidFill>
                  <a:srgbClr val="334155"/>
                </a:solidFill>
                <a:latin typeface="Inter"/>
              </a:rPr>
              <a:t>Management lacks visibility into which regions, channels, categories, brands and SKUs are driving profitable sales growth, and whether increased discounting is generating sufficient volume to justify the associated margin erosion. This makes it difficult to prioritize commercial investment and address margin dilution before it compounds.</a:t>
            </a:r>
          </a:p>
        </p:txBody>
      </p:sp>
      <p:sp>
        <p:nvSpPr>
          <p:cNvPr id="31" name="TextBox 30"/>
          <p:cNvSpPr txBox="1"/>
          <p:nvPr/>
        </p:nvSpPr>
        <p:spPr>
          <a:xfrm>
            <a:off x="8290024" y="2309738"/>
            <a:ext cx="3149649" cy="1652587"/>
          </a:xfrm>
          <a:prstGeom prst="rect">
            <a:avLst/>
          </a:prstGeom>
          <a:noFill/>
        </p:spPr>
        <p:txBody>
          <a:bodyPr wrap="square" lIns="0" tIns="0" rIns="0" bIns="0" anchor="t">
            <a:spAutoFit/>
          </a:bodyPr>
          <a:lstStyle/>
          <a:p>
            <a:pPr algn="l">
              <a:lnSpc>
                <a:spcPts val="1627"/>
              </a:lnSpc>
            </a:pPr>
            <a:r>
              <a:rPr sz="1050" b="0" i="0" u="none">
                <a:solidFill>
                  <a:srgbClr val="334155"/>
                </a:solidFill>
                <a:latin typeface="Inter"/>
              </a:rPr>
              <a:t>To analyze Net Sales, Units, Gross Profit and Gross Margin % across region, channel, category, brand and time, and to assess whether discounting and promotional activity is generating sufficient volume to justify margin erosion, in order to identify profitable growth opportunities and prioritize two or three commercial levers for the next quarter.</a:t>
            </a:r>
          </a:p>
        </p:txBody>
      </p:sp>
      <p:sp>
        <p:nvSpPr>
          <p:cNvPr id="32" name="TextBox 31"/>
          <p:cNvSpPr txBox="1"/>
          <p:nvPr/>
        </p:nvSpPr>
        <p:spPr>
          <a:xfrm>
            <a:off x="609600" y="457200"/>
            <a:ext cx="5845968" cy="152400"/>
          </a:xfrm>
          <a:prstGeom prst="rect">
            <a:avLst/>
          </a:prstGeom>
          <a:noFill/>
        </p:spPr>
        <p:txBody>
          <a:bodyPr wrap="none" lIns="0" tIns="0" rIns="0" bIns="0" anchor="t">
            <a:spAutoFit/>
          </a:bodyPr>
          <a:lstStyle/>
          <a:p>
            <a:pPr algn="l"/>
            <a:r>
              <a:rPr sz="975" b="1" i="0" u="none">
                <a:solidFill>
                  <a:srgbClr val="0D9488"/>
                </a:solidFill>
                <a:latin typeface="Inter"/>
              </a:rPr>
              <a:t>STRATEGIC FOUNDATION</a:t>
            </a:r>
          </a:p>
        </p:txBody>
      </p:sp>
      <p:sp>
        <p:nvSpPr>
          <p:cNvPr id="33" name="TextBox 32"/>
          <p:cNvSpPr txBox="1"/>
          <p:nvPr/>
        </p:nvSpPr>
        <p:spPr>
          <a:xfrm>
            <a:off x="609600" y="638175"/>
            <a:ext cx="6138267" cy="297060"/>
          </a:xfrm>
          <a:prstGeom prst="rect">
            <a:avLst/>
          </a:prstGeom>
          <a:noFill/>
        </p:spPr>
        <p:txBody>
          <a:bodyPr wrap="none" lIns="0" tIns="0" rIns="0" bIns="0" anchor="t">
            <a:spAutoFit/>
          </a:bodyPr>
          <a:lstStyle/>
          <a:p>
            <a:pPr algn="l">
              <a:lnSpc>
                <a:spcPts val="2340"/>
              </a:lnSpc>
            </a:pPr>
            <a:r>
              <a:rPr sz="1950" b="1" i="0" u="none">
                <a:solidFill>
                  <a:srgbClr val="0F2042"/>
                </a:solidFill>
                <a:latin typeface="Inter"/>
              </a:rPr>
              <a:t>Business Context, Problem &amp; Objective</a:t>
            </a:r>
          </a:p>
        </p:txBody>
      </p:sp>
      <p:sp>
        <p:nvSpPr>
          <p:cNvPr id="34" name="TextBox 33"/>
          <p:cNvSpPr txBox="1"/>
          <p:nvPr/>
        </p:nvSpPr>
        <p:spPr>
          <a:xfrm>
            <a:off x="1266825" y="1895401"/>
            <a:ext cx="2200275" cy="200025"/>
          </a:xfrm>
          <a:prstGeom prst="rect">
            <a:avLst/>
          </a:prstGeom>
          <a:noFill/>
        </p:spPr>
        <p:txBody>
          <a:bodyPr wrap="none" lIns="0" tIns="0" rIns="0" bIns="0" anchor="t">
            <a:spAutoFit/>
          </a:bodyPr>
          <a:lstStyle/>
          <a:p>
            <a:pPr algn="l"/>
            <a:r>
              <a:rPr sz="1350" b="1" i="0" u="none">
                <a:solidFill>
                  <a:srgbClr val="0F2042"/>
                </a:solidFill>
                <a:latin typeface="Inter"/>
              </a:rPr>
              <a:t>A. Business Context</a:t>
            </a:r>
          </a:p>
        </p:txBody>
      </p:sp>
      <p:sp>
        <p:nvSpPr>
          <p:cNvPr id="35" name="TextBox 34"/>
          <p:cNvSpPr txBox="1"/>
          <p:nvPr/>
        </p:nvSpPr>
        <p:spPr>
          <a:xfrm>
            <a:off x="4987974" y="1895401"/>
            <a:ext cx="2225278" cy="200025"/>
          </a:xfrm>
          <a:prstGeom prst="rect">
            <a:avLst/>
          </a:prstGeom>
          <a:noFill/>
        </p:spPr>
        <p:txBody>
          <a:bodyPr wrap="none" lIns="0" tIns="0" rIns="0" bIns="0" anchor="t">
            <a:spAutoFit/>
          </a:bodyPr>
          <a:lstStyle/>
          <a:p>
            <a:pPr algn="l"/>
            <a:r>
              <a:rPr sz="1350" b="1" i="0" u="none">
                <a:solidFill>
                  <a:srgbClr val="B91C1C"/>
                </a:solidFill>
                <a:latin typeface="Inter"/>
              </a:rPr>
              <a:t>B. Business Problem</a:t>
            </a:r>
          </a:p>
        </p:txBody>
      </p:sp>
      <p:sp>
        <p:nvSpPr>
          <p:cNvPr id="36" name="TextBox 35"/>
          <p:cNvSpPr txBox="1"/>
          <p:nvPr/>
        </p:nvSpPr>
        <p:spPr>
          <a:xfrm>
            <a:off x="8709124" y="1895401"/>
            <a:ext cx="2400300" cy="200025"/>
          </a:xfrm>
          <a:prstGeom prst="rect">
            <a:avLst/>
          </a:prstGeom>
          <a:noFill/>
        </p:spPr>
        <p:txBody>
          <a:bodyPr wrap="none" lIns="0" tIns="0" rIns="0" bIns="0" anchor="t">
            <a:spAutoFit/>
          </a:bodyPr>
          <a:lstStyle/>
          <a:p>
            <a:pPr algn="l"/>
            <a:r>
              <a:rPr sz="1350" b="1" i="0" u="none">
                <a:solidFill>
                  <a:srgbClr val="0D9488"/>
                </a:solidFill>
                <a:latin typeface="Inter"/>
              </a:rPr>
              <a:t>C. Business Objective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ounded Rectangle 2"/>
          <p:cNvSpPr/>
          <p:nvPr/>
        </p:nvSpPr>
        <p:spPr>
          <a:xfrm>
            <a:off x="609600" y="1525844"/>
            <a:ext cx="5137844" cy="3747641"/>
          </a:xfrm>
          <a:prstGeom prst="roundRect">
            <a:avLst>
              <a:gd name="adj" fmla="val 2033"/>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937944" y="1525844"/>
            <a:ext cx="5644455" cy="3747641"/>
          </a:xfrm>
          <a:prstGeom prst="roundRect">
            <a:avLst>
              <a:gd name="adj" fmla="val 2033"/>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71525" y="1963994"/>
            <a:ext cx="4813994" cy="720030"/>
          </a:xfrm>
          <a:prstGeom prst="roundRect">
            <a:avLst>
              <a:gd name="adj" fmla="val 7937"/>
            </a:avLst>
          </a:prstGeom>
          <a:solidFill>
            <a:srgbClr val="FFFFFF"/>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1525" y="4191059"/>
            <a:ext cx="4813994" cy="597098"/>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1525" y="4191059"/>
            <a:ext cx="28575" cy="59709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71525" y="3045975"/>
            <a:ext cx="2368897" cy="1049833"/>
          </a:xfrm>
          <a:prstGeom prst="roundRect">
            <a:avLst>
              <a:gd name="adj" fmla="val 5443"/>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216622" y="3045975"/>
            <a:ext cx="2368897" cy="1049833"/>
          </a:xfrm>
          <a:prstGeom prst="roundRect">
            <a:avLst>
              <a:gd name="adj" fmla="val 5443"/>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099869" y="1925894"/>
            <a:ext cx="5320605" cy="367605"/>
          </a:xfrm>
          <a:prstGeom prst="roundRect">
            <a:avLst>
              <a:gd name="adj" fmla="val 1036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099869" y="1925894"/>
            <a:ext cx="19050" cy="367605"/>
          </a:xfrm>
          <a:prstGeom prst="rect">
            <a:avLst/>
          </a:prstGeom>
          <a:solidFill>
            <a:srgbClr val="0F2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099869" y="2350650"/>
            <a:ext cx="5320605" cy="367605"/>
          </a:xfrm>
          <a:prstGeom prst="roundRect">
            <a:avLst>
              <a:gd name="adj" fmla="val 1036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099869" y="2350650"/>
            <a:ext cx="19050" cy="367605"/>
          </a:xfrm>
          <a:prstGeom prst="rect">
            <a:avLst/>
          </a:prstGeom>
          <a:solidFill>
            <a:srgbClr val="0F2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099869" y="2775405"/>
            <a:ext cx="5320605" cy="367605"/>
          </a:xfrm>
          <a:prstGeom prst="roundRect">
            <a:avLst>
              <a:gd name="adj" fmla="val 1036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099869" y="2775405"/>
            <a:ext cx="19050" cy="367605"/>
          </a:xfrm>
          <a:prstGeom prst="rect">
            <a:avLst/>
          </a:prstGeom>
          <a:solidFill>
            <a:srgbClr val="0F2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099869" y="3200161"/>
            <a:ext cx="5320605" cy="231427"/>
          </a:xfrm>
          <a:prstGeom prst="roundRect">
            <a:avLst>
              <a:gd name="adj" fmla="val 1646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099869" y="3200161"/>
            <a:ext cx="19050" cy="231427"/>
          </a:xfrm>
          <a:prstGeom prst="rect">
            <a:avLst/>
          </a:prstGeom>
          <a:solidFill>
            <a:srgbClr val="0F2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099869" y="3488739"/>
            <a:ext cx="5320605" cy="367605"/>
          </a:xfrm>
          <a:prstGeom prst="roundRect">
            <a:avLst>
              <a:gd name="adj" fmla="val 1036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099869" y="3488739"/>
            <a:ext cx="19050" cy="367605"/>
          </a:xfrm>
          <a:prstGeom prst="rect">
            <a:avLst/>
          </a:prstGeom>
          <a:solidFill>
            <a:srgbClr val="0F2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099869" y="3913494"/>
            <a:ext cx="5320605" cy="367605"/>
          </a:xfrm>
          <a:prstGeom prst="roundRect">
            <a:avLst>
              <a:gd name="adj" fmla="val 1036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099869" y="3913494"/>
            <a:ext cx="19050" cy="367605"/>
          </a:xfrm>
          <a:prstGeom prst="rect">
            <a:avLst/>
          </a:prstGeom>
          <a:solidFill>
            <a:srgbClr val="0F2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099869" y="4338250"/>
            <a:ext cx="5320605" cy="367605"/>
          </a:xfrm>
          <a:prstGeom prst="roundRect">
            <a:avLst>
              <a:gd name="adj" fmla="val 1036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099869" y="4338250"/>
            <a:ext cx="19050" cy="367605"/>
          </a:xfrm>
          <a:prstGeom prst="rect">
            <a:avLst/>
          </a:prstGeom>
          <a:solidFill>
            <a:srgbClr val="0F2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6099869" y="4763005"/>
            <a:ext cx="5320605" cy="367605"/>
          </a:xfrm>
          <a:prstGeom prst="roundRect">
            <a:avLst>
              <a:gd name="adj" fmla="val 1036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099869" y="4763005"/>
            <a:ext cx="19050" cy="367605"/>
          </a:xfrm>
          <a:prstGeom prst="rect">
            <a:avLst/>
          </a:prstGeom>
          <a:solidFill>
            <a:srgbClr val="0F2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4642544" y="2068769"/>
            <a:ext cx="838200" cy="152400"/>
          </a:xfrm>
          <a:prstGeom prst="roundRect">
            <a:avLst>
              <a:gd name="adj" fmla="val 1875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image.png"/>
          <p:cNvPicPr>
            <a:picLocks noChangeAspect="1"/>
          </p:cNvPicPr>
          <p:nvPr/>
        </p:nvPicPr>
        <p:blipFill>
          <a:blip r:embed="rId2"/>
          <a:stretch>
            <a:fillRect/>
          </a:stretch>
        </p:blipFill>
        <p:spPr>
          <a:xfrm>
            <a:off x="723900" y="1220985"/>
            <a:ext cx="85725" cy="114300"/>
          </a:xfrm>
          <a:prstGeom prst="rect">
            <a:avLst/>
          </a:prstGeom>
        </p:spPr>
      </p:pic>
      <p:pic>
        <p:nvPicPr>
          <p:cNvPr id="29" name="Picture 28" descr="image.png"/>
          <p:cNvPicPr>
            <a:picLocks noChangeAspect="1"/>
          </p:cNvPicPr>
          <p:nvPr/>
        </p:nvPicPr>
        <p:blipFill>
          <a:blip r:embed="rId3"/>
          <a:stretch>
            <a:fillRect/>
          </a:stretch>
        </p:blipFill>
        <p:spPr>
          <a:xfrm>
            <a:off x="6724650" y="471487"/>
            <a:ext cx="85725" cy="114300"/>
          </a:xfrm>
          <a:prstGeom prst="rect">
            <a:avLst/>
          </a:prstGeom>
        </p:spPr>
      </p:pic>
      <p:pic>
        <p:nvPicPr>
          <p:cNvPr id="30" name="Picture 29" descr="image.png"/>
          <p:cNvPicPr>
            <a:picLocks noChangeAspect="1"/>
          </p:cNvPicPr>
          <p:nvPr/>
        </p:nvPicPr>
        <p:blipFill>
          <a:blip r:embed="rId4"/>
          <a:stretch>
            <a:fillRect/>
          </a:stretch>
        </p:blipFill>
        <p:spPr>
          <a:xfrm>
            <a:off x="771525" y="1706819"/>
            <a:ext cx="161925" cy="142875"/>
          </a:xfrm>
          <a:prstGeom prst="rect">
            <a:avLst/>
          </a:prstGeom>
        </p:spPr>
      </p:pic>
      <p:pic>
        <p:nvPicPr>
          <p:cNvPr id="31" name="Picture 30" descr="image.png"/>
          <p:cNvPicPr>
            <a:picLocks noChangeAspect="1"/>
          </p:cNvPicPr>
          <p:nvPr/>
        </p:nvPicPr>
        <p:blipFill>
          <a:blip r:embed="rId5"/>
          <a:stretch>
            <a:fillRect/>
          </a:stretch>
        </p:blipFill>
        <p:spPr>
          <a:xfrm>
            <a:off x="6099869" y="1687769"/>
            <a:ext cx="104775" cy="142875"/>
          </a:xfrm>
          <a:prstGeom prst="rect">
            <a:avLst/>
          </a:prstGeom>
        </p:spPr>
      </p:pic>
      <p:pic>
        <p:nvPicPr>
          <p:cNvPr id="32" name="Picture 31" descr="image.png"/>
          <p:cNvPicPr>
            <a:picLocks noChangeAspect="1"/>
          </p:cNvPicPr>
          <p:nvPr/>
        </p:nvPicPr>
        <p:blipFill>
          <a:blip r:embed="rId6"/>
          <a:stretch>
            <a:fillRect/>
          </a:stretch>
        </p:blipFill>
        <p:spPr>
          <a:xfrm>
            <a:off x="1558230" y="2817375"/>
            <a:ext cx="133350" cy="104775"/>
          </a:xfrm>
          <a:prstGeom prst="rect">
            <a:avLst/>
          </a:prstGeom>
        </p:spPr>
      </p:pic>
      <p:pic>
        <p:nvPicPr>
          <p:cNvPr id="33" name="Picture 32" descr="image.png"/>
          <p:cNvPicPr>
            <a:picLocks noChangeAspect="1"/>
          </p:cNvPicPr>
          <p:nvPr/>
        </p:nvPicPr>
        <p:blipFill>
          <a:blip r:embed="rId6"/>
          <a:stretch>
            <a:fillRect/>
          </a:stretch>
        </p:blipFill>
        <p:spPr>
          <a:xfrm>
            <a:off x="3817590" y="2817375"/>
            <a:ext cx="133350" cy="104775"/>
          </a:xfrm>
          <a:prstGeom prst="rect">
            <a:avLst/>
          </a:prstGeom>
        </p:spPr>
      </p:pic>
      <p:sp>
        <p:nvSpPr>
          <p:cNvPr id="36" name="TextBox 35"/>
          <p:cNvSpPr txBox="1"/>
          <p:nvPr/>
        </p:nvSpPr>
        <p:spPr>
          <a:xfrm>
            <a:off x="866775" y="4267259"/>
            <a:ext cx="4718744" cy="444698"/>
          </a:xfrm>
          <a:prstGeom prst="rect">
            <a:avLst/>
          </a:prstGeom>
          <a:noFill/>
        </p:spPr>
        <p:txBody>
          <a:bodyPr wrap="square" lIns="0" tIns="0" rIns="0" bIns="0" anchor="t">
            <a:spAutoFit/>
          </a:bodyPr>
          <a:lstStyle/>
          <a:p>
            <a:pPr algn="l"/>
            <a:r>
              <a:rPr sz="900" b="1" i="0" u="none">
                <a:solidFill>
                  <a:srgbClr val="0F2042"/>
                </a:solidFill>
                <a:latin typeface="Inter"/>
              </a:rPr>
              <a:t>Derived Metrics &amp; Categorizations</a:t>
            </a:r>
          </a:p>
        </p:txBody>
      </p:sp>
      <p:sp>
        <p:nvSpPr>
          <p:cNvPr id="37" name="TextBox 36"/>
          <p:cNvSpPr txBox="1"/>
          <p:nvPr/>
        </p:nvSpPr>
        <p:spPr>
          <a:xfrm>
            <a:off x="609600" y="419100"/>
            <a:ext cx="7191375" cy="152400"/>
          </a:xfrm>
          <a:prstGeom prst="rect">
            <a:avLst/>
          </a:prstGeom>
          <a:noFill/>
        </p:spPr>
        <p:txBody>
          <a:bodyPr wrap="none" lIns="0" tIns="0" rIns="0" bIns="0" anchor="t">
            <a:spAutoFit/>
          </a:bodyPr>
          <a:lstStyle/>
          <a:p>
            <a:pPr algn="l"/>
            <a:r>
              <a:rPr sz="975" b="1" i="0" u="none">
                <a:solidFill>
                  <a:srgbClr val="0D9488"/>
                </a:solidFill>
                <a:latin typeface="Inter"/>
              </a:rPr>
              <a:t>ANALYTICAL FOUNDATIONS</a:t>
            </a:r>
          </a:p>
        </p:txBody>
      </p:sp>
      <p:sp>
        <p:nvSpPr>
          <p:cNvPr id="38" name="TextBox 37"/>
          <p:cNvSpPr txBox="1"/>
          <p:nvPr/>
        </p:nvSpPr>
        <p:spPr>
          <a:xfrm>
            <a:off x="609600" y="600075"/>
            <a:ext cx="7550943" cy="297060"/>
          </a:xfrm>
          <a:prstGeom prst="rect">
            <a:avLst/>
          </a:prstGeom>
          <a:noFill/>
        </p:spPr>
        <p:txBody>
          <a:bodyPr wrap="none" lIns="0" tIns="0" rIns="0" bIns="0" anchor="t">
            <a:spAutoFit/>
          </a:bodyPr>
          <a:lstStyle/>
          <a:p>
            <a:pPr algn="l">
              <a:lnSpc>
                <a:spcPts val="2340"/>
              </a:lnSpc>
            </a:pPr>
            <a:r>
              <a:rPr sz="1950" b="1" i="0" u="none">
                <a:solidFill>
                  <a:srgbClr val="0F2042"/>
                </a:solidFill>
                <a:latin typeface="Inter"/>
              </a:rPr>
              <a:t>Dataset Architecture &amp; Core Analysis Questions</a:t>
            </a:r>
          </a:p>
        </p:txBody>
      </p:sp>
      <p:sp>
        <p:nvSpPr>
          <p:cNvPr id="39" name="TextBox 38"/>
          <p:cNvSpPr txBox="1"/>
          <p:nvPr/>
        </p:nvSpPr>
        <p:spPr>
          <a:xfrm>
            <a:off x="1009650" y="1687769"/>
            <a:ext cx="2400300" cy="180975"/>
          </a:xfrm>
          <a:prstGeom prst="rect">
            <a:avLst/>
          </a:prstGeom>
          <a:noFill/>
        </p:spPr>
        <p:txBody>
          <a:bodyPr wrap="none" lIns="0" tIns="0" rIns="0" bIns="0" anchor="t">
            <a:spAutoFit/>
          </a:bodyPr>
          <a:lstStyle/>
          <a:p>
            <a:pPr algn="l"/>
            <a:r>
              <a:rPr sz="1125" b="1" i="0" u="none">
                <a:solidFill>
                  <a:srgbClr val="0F2042"/>
                </a:solidFill>
                <a:latin typeface="Inter"/>
              </a:rPr>
              <a:t>Star Schema Architecture</a:t>
            </a:r>
          </a:p>
        </p:txBody>
      </p:sp>
      <p:sp>
        <p:nvSpPr>
          <p:cNvPr id="40" name="TextBox 39"/>
          <p:cNvSpPr txBox="1"/>
          <p:nvPr/>
        </p:nvSpPr>
        <p:spPr>
          <a:xfrm>
            <a:off x="876300" y="2259269"/>
            <a:ext cx="4699694" cy="319980"/>
          </a:xfrm>
          <a:prstGeom prst="rect">
            <a:avLst/>
          </a:prstGeom>
          <a:noFill/>
        </p:spPr>
        <p:txBody>
          <a:bodyPr wrap="square" lIns="0" tIns="0" rIns="0" bIns="0" anchor="t">
            <a:spAutoFit/>
          </a:bodyPr>
          <a:lstStyle/>
          <a:p>
            <a:pPr algn="l">
              <a:lnSpc>
                <a:spcPts val="1260"/>
              </a:lnSpc>
            </a:pPr>
            <a:r>
              <a:rPr sz="900" b="0" i="0" u="none">
                <a:solidFill>
                  <a:srgbClr val="475569"/>
                </a:solidFill>
                <a:latin typeface="Inter"/>
              </a:rPr>
              <a:t>Invoice_ID, Invoice_Date, Customer_ID, SKU_ID, Units, MRP, Trade_Price, Promo_Flag, Discount_Pct, Net_Sales, COGS, Gross_Margin</a:t>
            </a:r>
          </a:p>
        </p:txBody>
      </p:sp>
      <p:sp>
        <p:nvSpPr>
          <p:cNvPr id="41" name="TextBox 40"/>
          <p:cNvSpPr txBox="1"/>
          <p:nvPr/>
        </p:nvSpPr>
        <p:spPr>
          <a:xfrm>
            <a:off x="1558230" y="2798325"/>
            <a:ext cx="971550" cy="133350"/>
          </a:xfrm>
          <a:prstGeom prst="rect">
            <a:avLst/>
          </a:prstGeom>
          <a:noFill/>
        </p:spPr>
        <p:txBody>
          <a:bodyPr wrap="none" lIns="133350" tIns="0" rIns="0" bIns="0" anchor="t">
            <a:spAutoFit/>
          </a:bodyPr>
          <a:lstStyle/>
          <a:p>
            <a:pPr algn="l"/>
            <a:r>
              <a:rPr sz="825" b="1" i="0" u="none">
                <a:solidFill>
                  <a:srgbClr val="0D9488"/>
                </a:solidFill>
                <a:latin typeface="Inter"/>
              </a:rPr>
              <a:t>on SKU_ID</a:t>
            </a:r>
          </a:p>
        </p:txBody>
      </p:sp>
      <p:sp>
        <p:nvSpPr>
          <p:cNvPr id="42" name="TextBox 41"/>
          <p:cNvSpPr txBox="1"/>
          <p:nvPr/>
        </p:nvSpPr>
        <p:spPr>
          <a:xfrm>
            <a:off x="3817590" y="2798325"/>
            <a:ext cx="1266825" cy="133350"/>
          </a:xfrm>
          <a:prstGeom prst="rect">
            <a:avLst/>
          </a:prstGeom>
          <a:noFill/>
        </p:spPr>
        <p:txBody>
          <a:bodyPr wrap="none" lIns="133350" tIns="0" rIns="0" bIns="0" anchor="t">
            <a:spAutoFit/>
          </a:bodyPr>
          <a:lstStyle/>
          <a:p>
            <a:pPr algn="l"/>
            <a:r>
              <a:rPr sz="825" b="1" i="0" u="none">
                <a:solidFill>
                  <a:srgbClr val="0D9488"/>
                </a:solidFill>
                <a:latin typeface="Inter"/>
              </a:rPr>
              <a:t>on Customer_ID</a:t>
            </a:r>
          </a:p>
        </p:txBody>
      </p:sp>
      <p:sp>
        <p:nvSpPr>
          <p:cNvPr id="43" name="TextBox 42"/>
          <p:cNvSpPr txBox="1"/>
          <p:nvPr/>
        </p:nvSpPr>
        <p:spPr>
          <a:xfrm>
            <a:off x="847725" y="3122175"/>
            <a:ext cx="2311747" cy="897433"/>
          </a:xfrm>
          <a:prstGeom prst="rect">
            <a:avLst/>
          </a:prstGeom>
          <a:noFill/>
        </p:spPr>
        <p:txBody>
          <a:bodyPr wrap="square" lIns="0" tIns="0" rIns="0" bIns="0" anchor="t">
            <a:spAutoFit/>
          </a:bodyPr>
          <a:lstStyle/>
          <a:p>
            <a:pPr algn="l"/>
            <a:r>
              <a:rPr sz="900" b="1" i="0" u="none">
                <a:solidFill>
                  <a:srgbClr val="0F2042"/>
                </a:solidFill>
                <a:latin typeface="Inter"/>
              </a:rPr>
              <a:t>Dim_Product</a:t>
            </a:r>
          </a:p>
        </p:txBody>
      </p:sp>
      <p:sp>
        <p:nvSpPr>
          <p:cNvPr id="44" name="TextBox 43"/>
          <p:cNvSpPr txBox="1"/>
          <p:nvPr/>
        </p:nvSpPr>
        <p:spPr>
          <a:xfrm>
            <a:off x="3292822" y="3122175"/>
            <a:ext cx="2311747" cy="897433"/>
          </a:xfrm>
          <a:prstGeom prst="rect">
            <a:avLst/>
          </a:prstGeom>
          <a:noFill/>
        </p:spPr>
        <p:txBody>
          <a:bodyPr wrap="square" lIns="0" tIns="0" rIns="0" bIns="0" anchor="t">
            <a:spAutoFit/>
          </a:bodyPr>
          <a:lstStyle/>
          <a:p>
            <a:pPr algn="l"/>
            <a:r>
              <a:rPr sz="900" b="1" i="0" u="none">
                <a:solidFill>
                  <a:srgbClr val="0F2042"/>
                </a:solidFill>
                <a:latin typeface="Inter"/>
              </a:rPr>
              <a:t>Dim_Customer</a:t>
            </a:r>
          </a:p>
        </p:txBody>
      </p:sp>
      <p:sp>
        <p:nvSpPr>
          <p:cNvPr id="45" name="TextBox 44"/>
          <p:cNvSpPr txBox="1"/>
          <p:nvPr/>
        </p:nvSpPr>
        <p:spPr>
          <a:xfrm>
            <a:off x="895350" y="4429184"/>
            <a:ext cx="4690169" cy="282773"/>
          </a:xfrm>
          <a:prstGeom prst="rect">
            <a:avLst/>
          </a:prstGeom>
          <a:noFill/>
        </p:spPr>
        <p:txBody>
          <a:bodyPr wrap="square" lIns="0" tIns="0" rIns="0" bIns="0" anchor="t">
            <a:spAutoFit/>
          </a:bodyPr>
          <a:lstStyle/>
          <a:p>
            <a:pPr algn="l">
              <a:lnSpc>
                <a:spcPts val="1113"/>
              </a:lnSpc>
            </a:pPr>
            <a:r>
              <a:rPr sz="825" b="0" i="0" u="none">
                <a:solidFill>
                  <a:srgbClr val="334155"/>
                </a:solidFill>
                <a:latin typeface="Inter"/>
              </a:rPr>
              <a:t>Gross Profit = Net Sales − COGS | Gross Margin % = Gross Profit ÷ Net Sales</a:t>
            </a:r>
            <a:r>
              <a:t>
</a:t>
            </a:r>
            <a:r>
              <a:rPr sz="825" b="0" i="0" u="none">
                <a:solidFill>
                  <a:srgbClr val="334155"/>
                </a:solidFill>
                <a:latin typeface="Inter"/>
              </a:rPr>
              <a:t> Discount Bands: 0-5%, 5-10%, 10-15%, 15-20%, &gt;20% | SKU Pareto Class: A/B/C</a:t>
            </a:r>
          </a:p>
        </p:txBody>
      </p:sp>
      <p:sp>
        <p:nvSpPr>
          <p:cNvPr id="46" name="TextBox 45"/>
          <p:cNvSpPr txBox="1"/>
          <p:nvPr/>
        </p:nvSpPr>
        <p:spPr>
          <a:xfrm>
            <a:off x="6280844" y="1668719"/>
            <a:ext cx="2750343" cy="180975"/>
          </a:xfrm>
          <a:prstGeom prst="rect">
            <a:avLst/>
          </a:prstGeom>
          <a:noFill/>
        </p:spPr>
        <p:txBody>
          <a:bodyPr wrap="none" lIns="0" tIns="0" rIns="0" bIns="0" anchor="t">
            <a:spAutoFit/>
          </a:bodyPr>
          <a:lstStyle/>
          <a:p>
            <a:pPr algn="l"/>
            <a:r>
              <a:rPr sz="1125" b="1" i="0" u="none">
                <a:solidFill>
                  <a:srgbClr val="0F2042"/>
                </a:solidFill>
                <a:latin typeface="Inter"/>
              </a:rPr>
              <a:t>8 Core Commercial Questions</a:t>
            </a:r>
          </a:p>
        </p:txBody>
      </p:sp>
      <p:sp>
        <p:nvSpPr>
          <p:cNvPr id="47" name="TextBox 46"/>
          <p:cNvSpPr txBox="1"/>
          <p:nvPr/>
        </p:nvSpPr>
        <p:spPr>
          <a:xfrm>
            <a:off x="6176069" y="1973519"/>
            <a:ext cx="5263455" cy="272355"/>
          </a:xfrm>
          <a:prstGeom prst="rect">
            <a:avLst/>
          </a:prstGeom>
          <a:noFill/>
        </p:spPr>
        <p:txBody>
          <a:bodyPr wrap="square" lIns="0" tIns="0" rIns="0" bIns="0" anchor="t">
            <a:spAutoFit/>
          </a:bodyPr>
          <a:lstStyle/>
          <a:p>
            <a:pPr algn="l">
              <a:lnSpc>
                <a:spcPts val="1072"/>
              </a:lnSpc>
            </a:pPr>
            <a:r>
              <a:rPr sz="825" b="1" i="0" u="none">
                <a:solidFill>
                  <a:srgbClr val="0F2042"/>
                </a:solidFill>
                <a:latin typeface="Inter"/>
              </a:rPr>
              <a:t>Q1. Which regions deliver the strongest combination of Net Sales, Units and Gross Profit, and how does Gross Margin % vary across them?</a:t>
            </a:r>
          </a:p>
        </p:txBody>
      </p:sp>
      <p:sp>
        <p:nvSpPr>
          <p:cNvPr id="48" name="TextBox 47"/>
          <p:cNvSpPr txBox="1"/>
          <p:nvPr/>
        </p:nvSpPr>
        <p:spPr>
          <a:xfrm>
            <a:off x="6176069" y="2398275"/>
            <a:ext cx="5263455" cy="272355"/>
          </a:xfrm>
          <a:prstGeom prst="rect">
            <a:avLst/>
          </a:prstGeom>
          <a:noFill/>
        </p:spPr>
        <p:txBody>
          <a:bodyPr wrap="square" lIns="0" tIns="0" rIns="0" bIns="0" anchor="t">
            <a:spAutoFit/>
          </a:bodyPr>
          <a:lstStyle/>
          <a:p>
            <a:pPr algn="l">
              <a:lnSpc>
                <a:spcPts val="1072"/>
              </a:lnSpc>
            </a:pPr>
            <a:r>
              <a:rPr sz="825" b="1" i="0" u="none">
                <a:solidFill>
                  <a:srgbClr val="0F2042"/>
                </a:solidFill>
                <a:latin typeface="Inter"/>
              </a:rPr>
              <a:t>Q2. Which sales channels generate the highest revenue, and do any channels show high sales but comparatively weak Gross Margin %?</a:t>
            </a:r>
          </a:p>
        </p:txBody>
      </p:sp>
      <p:sp>
        <p:nvSpPr>
          <p:cNvPr id="49" name="TextBox 48"/>
          <p:cNvSpPr txBox="1"/>
          <p:nvPr/>
        </p:nvSpPr>
        <p:spPr>
          <a:xfrm>
            <a:off x="6176069" y="2823030"/>
            <a:ext cx="5263455" cy="272355"/>
          </a:xfrm>
          <a:prstGeom prst="rect">
            <a:avLst/>
          </a:prstGeom>
          <a:noFill/>
        </p:spPr>
        <p:txBody>
          <a:bodyPr wrap="square" lIns="0" tIns="0" rIns="0" bIns="0" anchor="t">
            <a:spAutoFit/>
          </a:bodyPr>
          <a:lstStyle/>
          <a:p>
            <a:pPr algn="l">
              <a:lnSpc>
                <a:spcPts val="1072"/>
              </a:lnSpc>
            </a:pPr>
            <a:r>
              <a:rPr sz="825" b="1" i="0" u="none">
                <a:solidFill>
                  <a:srgbClr val="0F2042"/>
                </a:solidFill>
                <a:latin typeface="Inter"/>
              </a:rPr>
              <a:t>Q3. Which product categories contribute the most to sales and profit, and does the highest-selling category also carry the strongest margin?</a:t>
            </a:r>
          </a:p>
        </p:txBody>
      </p:sp>
      <p:sp>
        <p:nvSpPr>
          <p:cNvPr id="50" name="TextBox 49"/>
          <p:cNvSpPr txBox="1"/>
          <p:nvPr/>
        </p:nvSpPr>
        <p:spPr>
          <a:xfrm>
            <a:off x="6176069" y="3247786"/>
            <a:ext cx="5263455" cy="136177"/>
          </a:xfrm>
          <a:prstGeom prst="rect">
            <a:avLst/>
          </a:prstGeom>
          <a:noFill/>
        </p:spPr>
        <p:txBody>
          <a:bodyPr wrap="square" lIns="0" tIns="0" rIns="0" bIns="0" anchor="t">
            <a:spAutoFit/>
          </a:bodyPr>
          <a:lstStyle/>
          <a:p>
            <a:pPr algn="l">
              <a:lnSpc>
                <a:spcPts val="1072"/>
              </a:lnSpc>
            </a:pPr>
            <a:r>
              <a:rPr sz="825" b="1" i="0" u="none">
                <a:solidFill>
                  <a:srgbClr val="0F2042"/>
                </a:solidFill>
                <a:latin typeface="Inter"/>
              </a:rPr>
              <a:t>Q4. Which brands show a gap between their share of sales and their share of gross profit?</a:t>
            </a:r>
          </a:p>
        </p:txBody>
      </p:sp>
      <p:sp>
        <p:nvSpPr>
          <p:cNvPr id="51" name="TextBox 50"/>
          <p:cNvSpPr txBox="1"/>
          <p:nvPr/>
        </p:nvSpPr>
        <p:spPr>
          <a:xfrm>
            <a:off x="6176069" y="3536364"/>
            <a:ext cx="5263455" cy="272355"/>
          </a:xfrm>
          <a:prstGeom prst="rect">
            <a:avLst/>
          </a:prstGeom>
          <a:noFill/>
        </p:spPr>
        <p:txBody>
          <a:bodyPr wrap="square" lIns="0" tIns="0" rIns="0" bIns="0" anchor="t">
            <a:spAutoFit/>
          </a:bodyPr>
          <a:lstStyle/>
          <a:p>
            <a:pPr algn="l">
              <a:lnSpc>
                <a:spcPts val="1072"/>
              </a:lnSpc>
            </a:pPr>
            <a:r>
              <a:rPr sz="825" b="1" i="0" u="none">
                <a:solidFill>
                  <a:srgbClr val="0F2042"/>
                </a:solidFill>
                <a:latin typeface="Inter"/>
              </a:rPr>
              <a:t>Q5. Which SKUs generate high sales but comparatively low Gross Margin %, indicating profit-leakage candidates?</a:t>
            </a:r>
          </a:p>
        </p:txBody>
      </p:sp>
      <p:sp>
        <p:nvSpPr>
          <p:cNvPr id="52" name="TextBox 51"/>
          <p:cNvSpPr txBox="1"/>
          <p:nvPr/>
        </p:nvSpPr>
        <p:spPr>
          <a:xfrm>
            <a:off x="6176069" y="3961119"/>
            <a:ext cx="5263455" cy="272355"/>
          </a:xfrm>
          <a:prstGeom prst="rect">
            <a:avLst/>
          </a:prstGeom>
          <a:noFill/>
        </p:spPr>
        <p:txBody>
          <a:bodyPr wrap="square" lIns="0" tIns="0" rIns="0" bIns="0" anchor="t">
            <a:spAutoFit/>
          </a:bodyPr>
          <a:lstStyle/>
          <a:p>
            <a:pPr algn="l">
              <a:lnSpc>
                <a:spcPts val="1072"/>
              </a:lnSpc>
            </a:pPr>
            <a:r>
              <a:rPr sz="825" b="1" i="0" u="none">
                <a:solidFill>
                  <a:srgbClr val="0F2042"/>
                </a:solidFill>
                <a:latin typeface="Inter"/>
              </a:rPr>
              <a:t>Q6. How do Net Sales, Units and Gross Margin % vary across discount bands — are higher discount levels associated with lower margins without a proportional increase in volume?</a:t>
            </a:r>
          </a:p>
        </p:txBody>
      </p:sp>
      <p:sp>
        <p:nvSpPr>
          <p:cNvPr id="53" name="TextBox 52"/>
          <p:cNvSpPr txBox="1"/>
          <p:nvPr/>
        </p:nvSpPr>
        <p:spPr>
          <a:xfrm>
            <a:off x="6176069" y="4385875"/>
            <a:ext cx="5263455" cy="272355"/>
          </a:xfrm>
          <a:prstGeom prst="rect">
            <a:avLst/>
          </a:prstGeom>
          <a:noFill/>
        </p:spPr>
        <p:txBody>
          <a:bodyPr wrap="square" lIns="0" tIns="0" rIns="0" bIns="0" anchor="t">
            <a:spAutoFit/>
          </a:bodyPr>
          <a:lstStyle/>
          <a:p>
            <a:pPr algn="l">
              <a:lnSpc>
                <a:spcPts val="1072"/>
              </a:lnSpc>
            </a:pPr>
            <a:r>
              <a:rPr sz="825" b="1" i="0" u="none">
                <a:solidFill>
                  <a:srgbClr val="0F2042"/>
                </a:solidFill>
                <a:latin typeface="Inter"/>
              </a:rPr>
              <a:t>Q7. Across Brands, Regions and Channels, where did Net Sales growth outpace Gross Profit growth from 2024 to 2025, indicating potential margin dilution?</a:t>
            </a:r>
          </a:p>
        </p:txBody>
      </p:sp>
      <p:sp>
        <p:nvSpPr>
          <p:cNvPr id="54" name="TextBox 53"/>
          <p:cNvSpPr txBox="1"/>
          <p:nvPr/>
        </p:nvSpPr>
        <p:spPr>
          <a:xfrm>
            <a:off x="6176069" y="4810630"/>
            <a:ext cx="5263455" cy="272355"/>
          </a:xfrm>
          <a:prstGeom prst="rect">
            <a:avLst/>
          </a:prstGeom>
          <a:noFill/>
        </p:spPr>
        <p:txBody>
          <a:bodyPr wrap="square" lIns="0" tIns="0" rIns="0" bIns="0" anchor="t">
            <a:spAutoFit/>
          </a:bodyPr>
          <a:lstStyle/>
          <a:p>
            <a:pPr algn="l">
              <a:lnSpc>
                <a:spcPts val="1072"/>
              </a:lnSpc>
            </a:pPr>
            <a:r>
              <a:rPr sz="825" b="1" i="0" u="none">
                <a:solidFill>
                  <a:srgbClr val="0F2042"/>
                </a:solidFill>
                <a:latin typeface="Inter"/>
              </a:rPr>
              <a:t>Q8. Does promotional discounting generate proportionally higher volume relative to its impact on Gross Margin?</a:t>
            </a:r>
          </a:p>
        </p:txBody>
      </p:sp>
      <p:sp>
        <p:nvSpPr>
          <p:cNvPr id="55" name="TextBox 54"/>
          <p:cNvSpPr txBox="1"/>
          <p:nvPr/>
        </p:nvSpPr>
        <p:spPr>
          <a:xfrm>
            <a:off x="876300" y="2068769"/>
            <a:ext cx="962025" cy="152400"/>
          </a:xfrm>
          <a:prstGeom prst="rect">
            <a:avLst/>
          </a:prstGeom>
          <a:noFill/>
        </p:spPr>
        <p:txBody>
          <a:bodyPr wrap="none" lIns="0" tIns="0" rIns="0" bIns="0" anchor="t">
            <a:spAutoFit/>
          </a:bodyPr>
          <a:lstStyle/>
          <a:p>
            <a:pPr algn="l"/>
            <a:r>
              <a:rPr sz="975" b="1" i="0" u="none">
                <a:solidFill>
                  <a:srgbClr val="0F2042"/>
                </a:solidFill>
                <a:latin typeface="Inter"/>
              </a:rPr>
              <a:t>Fact_Sales</a:t>
            </a:r>
          </a:p>
        </p:txBody>
      </p:sp>
      <p:sp>
        <p:nvSpPr>
          <p:cNvPr id="56" name="TextBox 55"/>
          <p:cNvSpPr txBox="1"/>
          <p:nvPr/>
        </p:nvSpPr>
        <p:spPr>
          <a:xfrm>
            <a:off x="4699694" y="2078294"/>
            <a:ext cx="1009650" cy="133350"/>
          </a:xfrm>
          <a:prstGeom prst="rect">
            <a:avLst/>
          </a:prstGeom>
          <a:noFill/>
        </p:spPr>
        <p:txBody>
          <a:bodyPr wrap="none" lIns="0" tIns="0" rIns="0" bIns="0" anchor="t">
            <a:spAutoFit/>
          </a:bodyPr>
          <a:lstStyle/>
          <a:p>
            <a:pPr algn="l"/>
            <a:r>
              <a:rPr sz="825" b="1" i="0" u="none">
                <a:solidFill>
                  <a:srgbClr val="0369A1"/>
                </a:solidFill>
                <a:latin typeface="Inter"/>
              </a:rPr>
              <a:t>100,000 Rows</a:t>
            </a:r>
          </a:p>
        </p:txBody>
      </p:sp>
      <p:sp>
        <p:nvSpPr>
          <p:cNvPr id="57" name="TextBox 56"/>
          <p:cNvSpPr txBox="1"/>
          <p:nvPr/>
        </p:nvSpPr>
        <p:spPr>
          <a:xfrm>
            <a:off x="857250" y="3303150"/>
            <a:ext cx="2292697" cy="706933"/>
          </a:xfrm>
          <a:prstGeom prst="rect">
            <a:avLst/>
          </a:prstGeom>
          <a:noFill/>
        </p:spPr>
        <p:txBody>
          <a:bodyPr wrap="square" lIns="0" tIns="0" rIns="0" bIns="0" anchor="t">
            <a:spAutoFit/>
          </a:bodyPr>
          <a:lstStyle/>
          <a:p>
            <a:pPr algn="l">
              <a:lnSpc>
                <a:spcPts val="1113"/>
              </a:lnSpc>
            </a:pPr>
            <a:r>
              <a:rPr sz="825" b="0" i="0" u="none">
                <a:solidFill>
                  <a:srgbClr val="475569"/>
                </a:solidFill>
                <a:latin typeface="Inter"/>
              </a:rPr>
              <a:t>180 SKUs | 12 Brands</a:t>
            </a:r>
            <a:r>
              <a:t>
</a:t>
            </a:r>
            <a:r>
              <a:rPr sz="825" b="0" i="0" u="none">
                <a:solidFill>
                  <a:srgbClr val="475569"/>
                </a:solidFill>
                <a:latin typeface="Inter"/>
              </a:rPr>
              <a:t> 4 Categories (Beverages, Foods, Home Care, Personal Care)</a:t>
            </a:r>
            <a:r>
              <a:t>
</a:t>
            </a:r>
            <a:r>
              <a:rPr sz="825" b="0" i="0" u="none">
                <a:solidFill>
                  <a:srgbClr val="475569"/>
                </a:solidFill>
                <a:latin typeface="Inter"/>
              </a:rPr>
              <a:t> 12 Subcategories | Pack_Size | Launch_Year (2018-2025)</a:t>
            </a:r>
          </a:p>
        </p:txBody>
      </p:sp>
      <p:sp>
        <p:nvSpPr>
          <p:cNvPr id="58" name="TextBox 57"/>
          <p:cNvSpPr txBox="1"/>
          <p:nvPr/>
        </p:nvSpPr>
        <p:spPr>
          <a:xfrm>
            <a:off x="3302347" y="3303150"/>
            <a:ext cx="2292697" cy="706933"/>
          </a:xfrm>
          <a:prstGeom prst="rect">
            <a:avLst/>
          </a:prstGeom>
          <a:noFill/>
        </p:spPr>
        <p:txBody>
          <a:bodyPr wrap="square" lIns="0" tIns="0" rIns="0" bIns="0" anchor="t">
            <a:spAutoFit/>
          </a:bodyPr>
          <a:lstStyle/>
          <a:p>
            <a:pPr algn="l">
              <a:lnSpc>
                <a:spcPts val="1113"/>
              </a:lnSpc>
            </a:pPr>
            <a:r>
              <a:rPr sz="825" b="0" i="0" u="none">
                <a:solidFill>
                  <a:srgbClr val="475569"/>
                </a:solidFill>
                <a:latin typeface="Inter"/>
              </a:rPr>
              <a:t>1,200 Customers | 218 Distributors</a:t>
            </a:r>
            <a:r>
              <a:t>
</a:t>
            </a:r>
            <a:r>
              <a:rPr sz="825" b="0" i="0" u="none">
                <a:solidFill>
                  <a:srgbClr val="475569"/>
                </a:solidFill>
                <a:latin typeface="Inter"/>
              </a:rPr>
              <a:t> 4 Regions (East, North, South, West) | 13 States</a:t>
            </a:r>
            <a:r>
              <a:t>
</a:t>
            </a:r>
            <a:r>
              <a:rPr sz="825" b="0" i="0" u="none">
                <a:solidFill>
                  <a:srgbClr val="475569"/>
                </a:solidFill>
                <a:latin typeface="Inter"/>
              </a:rPr>
              <a:t> 3 Channels (GT, MT, E-Com) | 4 Outlet Types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ounded Rectangle 2"/>
          <p:cNvSpPr/>
          <p:nvPr/>
        </p:nvSpPr>
        <p:spPr>
          <a:xfrm>
            <a:off x="609600" y="1392435"/>
            <a:ext cx="3530649" cy="1323975"/>
          </a:xfrm>
          <a:prstGeom prst="roundRect">
            <a:avLst>
              <a:gd name="adj" fmla="val 5755"/>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30749" y="1392435"/>
            <a:ext cx="3530649" cy="1323975"/>
          </a:xfrm>
          <a:prstGeom prst="roundRect">
            <a:avLst>
              <a:gd name="adj" fmla="val 5755"/>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051899" y="1392435"/>
            <a:ext cx="3530649" cy="1323975"/>
          </a:xfrm>
          <a:prstGeom prst="roundRect">
            <a:avLst>
              <a:gd name="adj" fmla="val 5755"/>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09600" y="2945010"/>
            <a:ext cx="3530649" cy="1495425"/>
          </a:xfrm>
          <a:prstGeom prst="roundRect">
            <a:avLst>
              <a:gd name="adj" fmla="val 5095"/>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330749" y="2945010"/>
            <a:ext cx="3530649" cy="1495425"/>
          </a:xfrm>
          <a:prstGeom prst="roundRect">
            <a:avLst>
              <a:gd name="adj" fmla="val 5095"/>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051899" y="2945010"/>
            <a:ext cx="3530649" cy="1495425"/>
          </a:xfrm>
          <a:prstGeom prst="roundRect">
            <a:avLst>
              <a:gd name="adj" fmla="val 5095"/>
            </a:avLst>
          </a:prstGeom>
          <a:solidFill>
            <a:srgbClr val="FFF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09600" y="2706885"/>
            <a:ext cx="3530649"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09600" y="1392435"/>
            <a:ext cx="3530649" cy="38100"/>
          </a:xfrm>
          <a:prstGeom prst="rect">
            <a:avLst/>
          </a:prstGeom>
          <a:solidFill>
            <a:srgbClr val="0F2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09600" y="1392435"/>
            <a:ext cx="9525" cy="132397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130724" y="1392435"/>
            <a:ext cx="9525" cy="132397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30749" y="2706885"/>
            <a:ext cx="3530649"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30749" y="1392435"/>
            <a:ext cx="3530649"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330749" y="1392435"/>
            <a:ext cx="9525" cy="132397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851874" y="1392435"/>
            <a:ext cx="9525" cy="132397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51899" y="2706885"/>
            <a:ext cx="3530649"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51899" y="1392435"/>
            <a:ext cx="3530649" cy="38100"/>
          </a:xfrm>
          <a:prstGeom prst="rect">
            <a:avLst/>
          </a:prstGeom>
          <a:solidFill>
            <a:srgbClr val="0F2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1899" y="1392435"/>
            <a:ext cx="9525" cy="132397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1573023" y="1392435"/>
            <a:ext cx="9525" cy="132397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09600" y="4430910"/>
            <a:ext cx="3530649"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09600" y="2945010"/>
            <a:ext cx="3530649" cy="38100"/>
          </a:xfrm>
          <a:prstGeom prst="rect">
            <a:avLst/>
          </a:prstGeom>
          <a:solidFill>
            <a:srgbClr val="0F2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09600" y="2945010"/>
            <a:ext cx="9525" cy="14954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130724" y="2945010"/>
            <a:ext cx="9525" cy="14954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330749" y="4430910"/>
            <a:ext cx="3530649" cy="9525"/>
          </a:xfrm>
          <a:prstGeom prst="rect">
            <a:avLst/>
          </a:prstGeom>
          <a:solidFill>
            <a:srgbClr val="FECA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330749" y="2945010"/>
            <a:ext cx="3530649" cy="381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330749" y="2945010"/>
            <a:ext cx="9525" cy="1495425"/>
          </a:xfrm>
          <a:prstGeom prst="rect">
            <a:avLst/>
          </a:prstGeom>
          <a:solidFill>
            <a:srgbClr val="FECA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851874" y="2945010"/>
            <a:ext cx="9525" cy="1495425"/>
          </a:xfrm>
          <a:prstGeom prst="rect">
            <a:avLst/>
          </a:prstGeom>
          <a:solidFill>
            <a:srgbClr val="FECA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051899" y="4430910"/>
            <a:ext cx="3530649" cy="9525"/>
          </a:xfrm>
          <a:prstGeom prst="rect">
            <a:avLst/>
          </a:prstGeom>
          <a:solidFill>
            <a:srgbClr val="FDE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8051899" y="2945010"/>
            <a:ext cx="3530649" cy="381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051899" y="2945010"/>
            <a:ext cx="9525" cy="1495425"/>
          </a:xfrm>
          <a:prstGeom prst="rect">
            <a:avLst/>
          </a:prstGeom>
          <a:solidFill>
            <a:srgbClr val="FDE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11573023" y="2945010"/>
            <a:ext cx="9525" cy="1495425"/>
          </a:xfrm>
          <a:prstGeom prst="rect">
            <a:avLst/>
          </a:prstGeom>
          <a:solidFill>
            <a:srgbClr val="FDE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6518374" y="3192660"/>
            <a:ext cx="1123950" cy="171450"/>
          </a:xfrm>
          <a:prstGeom prst="roundRect">
            <a:avLst>
              <a:gd name="adj" fmla="val 16666"/>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10363348" y="3192660"/>
            <a:ext cx="1000125" cy="171450"/>
          </a:xfrm>
          <a:prstGeom prst="roundRect">
            <a:avLst>
              <a:gd name="adj" fmla="val 16666"/>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Picture 34" descr="image.png"/>
          <p:cNvPicPr>
            <a:picLocks noChangeAspect="1"/>
          </p:cNvPicPr>
          <p:nvPr/>
        </p:nvPicPr>
        <p:blipFill>
          <a:blip r:embed="rId2"/>
          <a:stretch>
            <a:fillRect/>
          </a:stretch>
        </p:blipFill>
        <p:spPr>
          <a:xfrm>
            <a:off x="5905500" y="509587"/>
            <a:ext cx="85725" cy="114300"/>
          </a:xfrm>
          <a:prstGeom prst="rect">
            <a:avLst/>
          </a:prstGeom>
        </p:spPr>
      </p:pic>
      <p:sp>
        <p:nvSpPr>
          <p:cNvPr id="37" name="TextBox 36"/>
          <p:cNvSpPr txBox="1"/>
          <p:nvPr/>
        </p:nvSpPr>
        <p:spPr>
          <a:xfrm>
            <a:off x="609600" y="457200"/>
            <a:ext cx="5822156" cy="152400"/>
          </a:xfrm>
          <a:prstGeom prst="rect">
            <a:avLst/>
          </a:prstGeom>
          <a:noFill/>
        </p:spPr>
        <p:txBody>
          <a:bodyPr wrap="none" lIns="0" tIns="0" rIns="0" bIns="0" anchor="t">
            <a:spAutoFit/>
          </a:bodyPr>
          <a:lstStyle/>
          <a:p>
            <a:pPr algn="l"/>
            <a:r>
              <a:rPr sz="975" b="1" i="0" u="none">
                <a:solidFill>
                  <a:srgbClr val="0D9488"/>
                </a:solidFill>
                <a:latin typeface="Inter"/>
              </a:rPr>
              <a:t>EXECUTIVE SCORECARD</a:t>
            </a:r>
          </a:p>
        </p:txBody>
      </p:sp>
      <p:sp>
        <p:nvSpPr>
          <p:cNvPr id="38" name="TextBox 37"/>
          <p:cNvSpPr txBox="1"/>
          <p:nvPr/>
        </p:nvSpPr>
        <p:spPr>
          <a:xfrm>
            <a:off x="609600" y="638175"/>
            <a:ext cx="6113264" cy="297060"/>
          </a:xfrm>
          <a:prstGeom prst="rect">
            <a:avLst/>
          </a:prstGeom>
          <a:noFill/>
        </p:spPr>
        <p:txBody>
          <a:bodyPr wrap="none" lIns="0" tIns="0" rIns="0" bIns="0" anchor="t">
            <a:spAutoFit/>
          </a:bodyPr>
          <a:lstStyle/>
          <a:p>
            <a:pPr algn="l">
              <a:lnSpc>
                <a:spcPts val="2340"/>
              </a:lnSpc>
            </a:pPr>
            <a:r>
              <a:rPr sz="1950" b="1" i="0" u="none">
                <a:solidFill>
                  <a:srgbClr val="0F2042"/>
                </a:solidFill>
                <a:latin typeface="Inter"/>
              </a:rPr>
              <a:t>Enterprise Performance &amp; Risk Metrics</a:t>
            </a:r>
          </a:p>
        </p:txBody>
      </p:sp>
      <p:sp>
        <p:nvSpPr>
          <p:cNvPr id="39" name="TextBox 38"/>
          <p:cNvSpPr txBox="1"/>
          <p:nvPr/>
        </p:nvSpPr>
        <p:spPr>
          <a:xfrm>
            <a:off x="828675" y="1640085"/>
            <a:ext cx="3865624" cy="152400"/>
          </a:xfrm>
          <a:prstGeom prst="rect">
            <a:avLst/>
          </a:prstGeom>
          <a:noFill/>
        </p:spPr>
        <p:txBody>
          <a:bodyPr wrap="none" lIns="0" tIns="0" rIns="0" bIns="0" anchor="t">
            <a:spAutoFit/>
          </a:bodyPr>
          <a:lstStyle/>
          <a:p>
            <a:pPr algn="l"/>
            <a:r>
              <a:rPr sz="975" b="1" i="0" u="none">
                <a:solidFill>
                  <a:srgbClr val="64748B"/>
                </a:solidFill>
                <a:latin typeface="Inter"/>
              </a:rPr>
              <a:t>TOTAL NET SALES</a:t>
            </a:r>
          </a:p>
        </p:txBody>
      </p:sp>
      <p:sp>
        <p:nvSpPr>
          <p:cNvPr id="40" name="TextBox 39"/>
          <p:cNvSpPr txBox="1"/>
          <p:nvPr/>
        </p:nvSpPr>
        <p:spPr>
          <a:xfrm>
            <a:off x="828675" y="1868685"/>
            <a:ext cx="3865624" cy="400050"/>
          </a:xfrm>
          <a:prstGeom prst="rect">
            <a:avLst/>
          </a:prstGeom>
          <a:noFill/>
        </p:spPr>
        <p:txBody>
          <a:bodyPr wrap="none" lIns="0" tIns="0" rIns="0" bIns="0" anchor="t">
            <a:spAutoFit/>
          </a:bodyPr>
          <a:lstStyle/>
          <a:p>
            <a:pPr algn="l">
              <a:lnSpc>
                <a:spcPts val="3150"/>
              </a:lnSpc>
            </a:pPr>
            <a:r>
              <a:rPr sz="3150" b="1" i="0" u="none">
                <a:solidFill>
                  <a:srgbClr val="0F2042"/>
                </a:solidFill>
                <a:latin typeface="Inter"/>
              </a:rPr>
              <a:t>329.37M</a:t>
            </a:r>
          </a:p>
        </p:txBody>
      </p:sp>
      <p:sp>
        <p:nvSpPr>
          <p:cNvPr id="41" name="TextBox 40"/>
          <p:cNvSpPr txBox="1"/>
          <p:nvPr/>
        </p:nvSpPr>
        <p:spPr>
          <a:xfrm>
            <a:off x="828675" y="2344935"/>
            <a:ext cx="3865624" cy="152400"/>
          </a:xfrm>
          <a:prstGeom prst="rect">
            <a:avLst/>
          </a:prstGeom>
          <a:noFill/>
        </p:spPr>
        <p:txBody>
          <a:bodyPr wrap="none" lIns="0" tIns="0" rIns="0" bIns="0" anchor="t">
            <a:spAutoFit/>
          </a:bodyPr>
          <a:lstStyle/>
          <a:p>
            <a:pPr algn="l"/>
            <a:r>
              <a:rPr sz="975" b="0" i="0" u="none">
                <a:solidFill>
                  <a:srgbClr val="475569"/>
                </a:solidFill>
                <a:latin typeface="Inter"/>
              </a:rPr>
              <a:t>100,000 transactions across 4 categories</a:t>
            </a:r>
          </a:p>
        </p:txBody>
      </p:sp>
      <p:sp>
        <p:nvSpPr>
          <p:cNvPr id="42" name="TextBox 41"/>
          <p:cNvSpPr txBox="1"/>
          <p:nvPr/>
        </p:nvSpPr>
        <p:spPr>
          <a:xfrm>
            <a:off x="4549824" y="1640085"/>
            <a:ext cx="3865624" cy="152400"/>
          </a:xfrm>
          <a:prstGeom prst="rect">
            <a:avLst/>
          </a:prstGeom>
          <a:noFill/>
        </p:spPr>
        <p:txBody>
          <a:bodyPr wrap="none" lIns="0" tIns="0" rIns="0" bIns="0" anchor="t">
            <a:spAutoFit/>
          </a:bodyPr>
          <a:lstStyle/>
          <a:p>
            <a:pPr algn="l"/>
            <a:r>
              <a:rPr sz="975" b="1" i="0" u="none">
                <a:solidFill>
                  <a:srgbClr val="64748B"/>
                </a:solidFill>
                <a:latin typeface="Inter"/>
              </a:rPr>
              <a:t>TOTAL GROSS PROFIT</a:t>
            </a:r>
          </a:p>
        </p:txBody>
      </p:sp>
      <p:sp>
        <p:nvSpPr>
          <p:cNvPr id="43" name="TextBox 42"/>
          <p:cNvSpPr txBox="1"/>
          <p:nvPr/>
        </p:nvSpPr>
        <p:spPr>
          <a:xfrm>
            <a:off x="4549824" y="1868685"/>
            <a:ext cx="3865624" cy="400050"/>
          </a:xfrm>
          <a:prstGeom prst="rect">
            <a:avLst/>
          </a:prstGeom>
          <a:noFill/>
        </p:spPr>
        <p:txBody>
          <a:bodyPr wrap="none" lIns="0" tIns="0" rIns="0" bIns="0" anchor="t">
            <a:spAutoFit/>
          </a:bodyPr>
          <a:lstStyle/>
          <a:p>
            <a:pPr algn="l">
              <a:lnSpc>
                <a:spcPts val="3150"/>
              </a:lnSpc>
            </a:pPr>
            <a:r>
              <a:rPr sz="3150" b="1" i="0" u="none">
                <a:solidFill>
                  <a:srgbClr val="0D9488"/>
                </a:solidFill>
                <a:latin typeface="Inter"/>
              </a:rPr>
              <a:t>104.57M</a:t>
            </a:r>
          </a:p>
        </p:txBody>
      </p:sp>
      <p:sp>
        <p:nvSpPr>
          <p:cNvPr id="44" name="TextBox 43"/>
          <p:cNvSpPr txBox="1"/>
          <p:nvPr/>
        </p:nvSpPr>
        <p:spPr>
          <a:xfrm>
            <a:off x="4549824" y="2344935"/>
            <a:ext cx="3865624" cy="152400"/>
          </a:xfrm>
          <a:prstGeom prst="rect">
            <a:avLst/>
          </a:prstGeom>
          <a:noFill/>
        </p:spPr>
        <p:txBody>
          <a:bodyPr wrap="none" lIns="0" tIns="0" rIns="0" bIns="0" anchor="t">
            <a:spAutoFit/>
          </a:bodyPr>
          <a:lstStyle/>
          <a:p>
            <a:pPr algn="l"/>
            <a:r>
              <a:rPr sz="975" b="0" i="0" u="none">
                <a:solidFill>
                  <a:srgbClr val="475569"/>
                </a:solidFill>
                <a:latin typeface="Inter"/>
              </a:rPr>
              <a:t>Net Sales less 224.80M total COGS</a:t>
            </a:r>
          </a:p>
        </p:txBody>
      </p:sp>
      <p:sp>
        <p:nvSpPr>
          <p:cNvPr id="45" name="TextBox 44"/>
          <p:cNvSpPr txBox="1"/>
          <p:nvPr/>
        </p:nvSpPr>
        <p:spPr>
          <a:xfrm>
            <a:off x="8270974" y="1640085"/>
            <a:ext cx="3865624" cy="152400"/>
          </a:xfrm>
          <a:prstGeom prst="rect">
            <a:avLst/>
          </a:prstGeom>
          <a:noFill/>
        </p:spPr>
        <p:txBody>
          <a:bodyPr wrap="none" lIns="0" tIns="0" rIns="0" bIns="0" anchor="t">
            <a:spAutoFit/>
          </a:bodyPr>
          <a:lstStyle/>
          <a:p>
            <a:pPr algn="l"/>
            <a:r>
              <a:rPr sz="975" b="1" i="0" u="none">
                <a:solidFill>
                  <a:srgbClr val="64748B"/>
                </a:solidFill>
                <a:latin typeface="Inter"/>
              </a:rPr>
              <a:t>OVERALL GROSS MARGIN %</a:t>
            </a:r>
          </a:p>
        </p:txBody>
      </p:sp>
      <p:sp>
        <p:nvSpPr>
          <p:cNvPr id="46" name="TextBox 45"/>
          <p:cNvSpPr txBox="1"/>
          <p:nvPr/>
        </p:nvSpPr>
        <p:spPr>
          <a:xfrm>
            <a:off x="8270974" y="1868685"/>
            <a:ext cx="3865624" cy="400050"/>
          </a:xfrm>
          <a:prstGeom prst="rect">
            <a:avLst/>
          </a:prstGeom>
          <a:noFill/>
        </p:spPr>
        <p:txBody>
          <a:bodyPr wrap="none" lIns="0" tIns="0" rIns="0" bIns="0" anchor="t">
            <a:spAutoFit/>
          </a:bodyPr>
          <a:lstStyle/>
          <a:p>
            <a:pPr algn="l">
              <a:lnSpc>
                <a:spcPts val="3150"/>
              </a:lnSpc>
            </a:pPr>
            <a:r>
              <a:rPr sz="3150" b="1" i="0" u="none">
                <a:solidFill>
                  <a:srgbClr val="0F2042"/>
                </a:solidFill>
                <a:latin typeface="Inter"/>
              </a:rPr>
              <a:t>31.75%</a:t>
            </a:r>
          </a:p>
        </p:txBody>
      </p:sp>
      <p:sp>
        <p:nvSpPr>
          <p:cNvPr id="47" name="TextBox 46"/>
          <p:cNvSpPr txBox="1"/>
          <p:nvPr/>
        </p:nvSpPr>
        <p:spPr>
          <a:xfrm>
            <a:off x="8270974" y="2344935"/>
            <a:ext cx="3865624" cy="152400"/>
          </a:xfrm>
          <a:prstGeom prst="rect">
            <a:avLst/>
          </a:prstGeom>
          <a:noFill/>
        </p:spPr>
        <p:txBody>
          <a:bodyPr wrap="none" lIns="0" tIns="0" rIns="0" bIns="0" anchor="t">
            <a:spAutoFit/>
          </a:bodyPr>
          <a:lstStyle/>
          <a:p>
            <a:pPr algn="l"/>
            <a:r>
              <a:rPr sz="975" b="0" i="0" u="none">
                <a:solidFill>
                  <a:srgbClr val="475569"/>
                </a:solidFill>
                <a:latin typeface="Inter"/>
              </a:rPr>
              <a:t>Portfolio aggregate margin baseline</a:t>
            </a:r>
          </a:p>
        </p:txBody>
      </p:sp>
      <p:sp>
        <p:nvSpPr>
          <p:cNvPr id="48" name="TextBox 47"/>
          <p:cNvSpPr txBox="1"/>
          <p:nvPr/>
        </p:nvSpPr>
        <p:spPr>
          <a:xfrm>
            <a:off x="828675" y="3192660"/>
            <a:ext cx="3865624" cy="152400"/>
          </a:xfrm>
          <a:prstGeom prst="rect">
            <a:avLst/>
          </a:prstGeom>
          <a:noFill/>
        </p:spPr>
        <p:txBody>
          <a:bodyPr wrap="none" lIns="0" tIns="0" rIns="0" bIns="0" anchor="t">
            <a:spAutoFit/>
          </a:bodyPr>
          <a:lstStyle/>
          <a:p>
            <a:pPr algn="l"/>
            <a:r>
              <a:rPr sz="975" b="1" i="0" u="none">
                <a:solidFill>
                  <a:srgbClr val="64748B"/>
                </a:solidFill>
                <a:latin typeface="Inter"/>
              </a:rPr>
              <a:t>TOTAL UNITS SOLD</a:t>
            </a:r>
          </a:p>
        </p:txBody>
      </p:sp>
      <p:sp>
        <p:nvSpPr>
          <p:cNvPr id="49" name="TextBox 48"/>
          <p:cNvSpPr txBox="1"/>
          <p:nvPr/>
        </p:nvSpPr>
        <p:spPr>
          <a:xfrm>
            <a:off x="828675" y="3421260"/>
            <a:ext cx="3865624" cy="400050"/>
          </a:xfrm>
          <a:prstGeom prst="rect">
            <a:avLst/>
          </a:prstGeom>
          <a:noFill/>
        </p:spPr>
        <p:txBody>
          <a:bodyPr wrap="none" lIns="0" tIns="0" rIns="0" bIns="0" anchor="t">
            <a:spAutoFit/>
          </a:bodyPr>
          <a:lstStyle/>
          <a:p>
            <a:pPr algn="l">
              <a:lnSpc>
                <a:spcPts val="3150"/>
              </a:lnSpc>
            </a:pPr>
            <a:r>
              <a:rPr sz="3150" b="1" i="0" u="none">
                <a:solidFill>
                  <a:srgbClr val="0F2042"/>
                </a:solidFill>
                <a:latin typeface="Inter"/>
              </a:rPr>
              <a:t>4.06M</a:t>
            </a:r>
          </a:p>
        </p:txBody>
      </p:sp>
      <p:sp>
        <p:nvSpPr>
          <p:cNvPr id="50" name="TextBox 49"/>
          <p:cNvSpPr txBox="1"/>
          <p:nvPr/>
        </p:nvSpPr>
        <p:spPr>
          <a:xfrm>
            <a:off x="828675" y="3897510"/>
            <a:ext cx="3865624" cy="152400"/>
          </a:xfrm>
          <a:prstGeom prst="rect">
            <a:avLst/>
          </a:prstGeom>
          <a:noFill/>
        </p:spPr>
        <p:txBody>
          <a:bodyPr wrap="none" lIns="0" tIns="0" rIns="0" bIns="0" anchor="t">
            <a:spAutoFit/>
          </a:bodyPr>
          <a:lstStyle/>
          <a:p>
            <a:pPr algn="l"/>
            <a:r>
              <a:rPr sz="975" b="0" i="0" u="none">
                <a:solidFill>
                  <a:srgbClr val="475569"/>
                </a:solidFill>
                <a:latin typeface="Inter"/>
              </a:rPr>
              <a:t>Exact volume: 4,056,358 units</a:t>
            </a:r>
          </a:p>
        </p:txBody>
      </p:sp>
      <p:sp>
        <p:nvSpPr>
          <p:cNvPr id="51" name="TextBox 50"/>
          <p:cNvSpPr txBox="1"/>
          <p:nvPr/>
        </p:nvSpPr>
        <p:spPr>
          <a:xfrm>
            <a:off x="4549824" y="3440310"/>
            <a:ext cx="928139" cy="414409"/>
          </a:xfrm>
          <a:prstGeom prst="rect">
            <a:avLst/>
          </a:prstGeom>
          <a:noFill/>
        </p:spPr>
        <p:txBody>
          <a:bodyPr wrap="none" lIns="0" tIns="0" rIns="0" bIns="0" anchor="t">
            <a:spAutoFit/>
          </a:bodyPr>
          <a:lstStyle/>
          <a:p>
            <a:pPr algn="l">
              <a:lnSpc>
                <a:spcPts val="3150"/>
              </a:lnSpc>
            </a:pPr>
            <a:r>
              <a:rPr sz="3150" b="1" i="0" u="none" dirty="0">
                <a:solidFill>
                  <a:srgbClr val="DC2626"/>
                </a:solidFill>
                <a:latin typeface="Inter"/>
              </a:rPr>
              <a:t>0.04</a:t>
            </a:r>
            <a:r>
              <a:rPr lang="en-US" sz="3150" b="1" i="0" u="none" dirty="0">
                <a:solidFill>
                  <a:srgbClr val="DC2626"/>
                </a:solidFill>
                <a:latin typeface="Inter"/>
              </a:rPr>
              <a:t>8</a:t>
            </a:r>
            <a:endParaRPr sz="3150" b="1" i="0" u="none" dirty="0">
              <a:solidFill>
                <a:srgbClr val="DC2626"/>
              </a:solidFill>
              <a:latin typeface="Inter"/>
            </a:endParaRPr>
          </a:p>
        </p:txBody>
      </p:sp>
      <p:sp>
        <p:nvSpPr>
          <p:cNvPr id="52" name="TextBox 51"/>
          <p:cNvSpPr txBox="1"/>
          <p:nvPr/>
        </p:nvSpPr>
        <p:spPr>
          <a:xfrm>
            <a:off x="4549824" y="3916560"/>
            <a:ext cx="3865624" cy="152400"/>
          </a:xfrm>
          <a:prstGeom prst="rect">
            <a:avLst/>
          </a:prstGeom>
          <a:noFill/>
        </p:spPr>
        <p:txBody>
          <a:bodyPr wrap="none" lIns="0" tIns="0" rIns="0" bIns="0" anchor="t">
            <a:spAutoFit/>
          </a:bodyPr>
          <a:lstStyle/>
          <a:p>
            <a:pPr algn="l"/>
            <a:r>
              <a:rPr sz="975" b="0" i="0" u="none">
                <a:solidFill>
                  <a:srgbClr val="7F1D1D"/>
                </a:solidFill>
                <a:latin typeface="Inter"/>
              </a:rPr>
              <a:t>Promo volume lift 0.44% ÷ margin cost 9.23 pts</a:t>
            </a:r>
          </a:p>
        </p:txBody>
      </p:sp>
      <p:sp>
        <p:nvSpPr>
          <p:cNvPr id="53" name="TextBox 52"/>
          <p:cNvSpPr txBox="1"/>
          <p:nvPr/>
        </p:nvSpPr>
        <p:spPr>
          <a:xfrm>
            <a:off x="8270974" y="3440310"/>
            <a:ext cx="3865624" cy="400050"/>
          </a:xfrm>
          <a:prstGeom prst="rect">
            <a:avLst/>
          </a:prstGeom>
          <a:noFill/>
        </p:spPr>
        <p:txBody>
          <a:bodyPr wrap="none" lIns="0" tIns="0" rIns="0" bIns="0" anchor="t">
            <a:spAutoFit/>
          </a:bodyPr>
          <a:lstStyle/>
          <a:p>
            <a:pPr algn="l">
              <a:lnSpc>
                <a:spcPts val="3150"/>
              </a:lnSpc>
            </a:pPr>
            <a:r>
              <a:rPr sz="3150" b="1" i="0" u="none">
                <a:solidFill>
                  <a:srgbClr val="D97706"/>
                </a:solidFill>
                <a:latin typeface="Inter"/>
              </a:rPr>
              <a:t>5 of 19</a:t>
            </a:r>
          </a:p>
        </p:txBody>
      </p:sp>
      <p:sp>
        <p:nvSpPr>
          <p:cNvPr id="54" name="TextBox 53"/>
          <p:cNvSpPr txBox="1"/>
          <p:nvPr/>
        </p:nvSpPr>
        <p:spPr>
          <a:xfrm>
            <a:off x="8270974" y="3916560"/>
            <a:ext cx="3187749" cy="304800"/>
          </a:xfrm>
          <a:prstGeom prst="rect">
            <a:avLst/>
          </a:prstGeom>
          <a:noFill/>
        </p:spPr>
        <p:txBody>
          <a:bodyPr wrap="square" lIns="0" tIns="0" rIns="0" bIns="0" anchor="t">
            <a:spAutoFit/>
          </a:bodyPr>
          <a:lstStyle/>
          <a:p>
            <a:pPr algn="l"/>
            <a:r>
              <a:rPr sz="975" b="0" i="0" u="none">
                <a:solidFill>
                  <a:srgbClr val="78350F"/>
                </a:solidFill>
                <a:latin typeface="Inter"/>
              </a:rPr>
              <a:t>5 of 19 brands/regions/channels show Net Sales growth outpacing Gross Profit growth</a:t>
            </a:r>
          </a:p>
        </p:txBody>
      </p:sp>
      <p:sp>
        <p:nvSpPr>
          <p:cNvPr id="55" name="TextBox 54"/>
          <p:cNvSpPr txBox="1"/>
          <p:nvPr/>
        </p:nvSpPr>
        <p:spPr>
          <a:xfrm>
            <a:off x="4549824" y="3202185"/>
            <a:ext cx="1678781" cy="152400"/>
          </a:xfrm>
          <a:prstGeom prst="rect">
            <a:avLst/>
          </a:prstGeom>
          <a:noFill/>
        </p:spPr>
        <p:txBody>
          <a:bodyPr wrap="none" lIns="0" tIns="0" rIns="0" bIns="0" anchor="t">
            <a:spAutoFit/>
          </a:bodyPr>
          <a:lstStyle/>
          <a:p>
            <a:pPr algn="l"/>
            <a:r>
              <a:rPr sz="975" b="1" i="0" u="none">
                <a:solidFill>
                  <a:srgbClr val="991B1B"/>
                </a:solidFill>
                <a:latin typeface="Inter"/>
              </a:rPr>
              <a:t>DISCOUNT ROI RATIO</a:t>
            </a:r>
          </a:p>
        </p:txBody>
      </p:sp>
      <p:sp>
        <p:nvSpPr>
          <p:cNvPr id="56" name="TextBox 55"/>
          <p:cNvSpPr txBox="1"/>
          <p:nvPr/>
        </p:nvSpPr>
        <p:spPr>
          <a:xfrm>
            <a:off x="6575524" y="3211710"/>
            <a:ext cx="1104900" cy="133350"/>
          </a:xfrm>
          <a:prstGeom prst="rect">
            <a:avLst/>
          </a:prstGeom>
          <a:noFill/>
        </p:spPr>
        <p:txBody>
          <a:bodyPr wrap="square" lIns="0" tIns="0" rIns="0" bIns="0" anchor="t">
            <a:spAutoFit/>
          </a:bodyPr>
          <a:lstStyle/>
          <a:p>
            <a:pPr algn="l"/>
            <a:r>
              <a:rPr sz="825" b="1" i="0" u="none">
                <a:solidFill>
                  <a:srgbClr val="B91C1C"/>
                </a:solidFill>
                <a:latin typeface="Inter"/>
              </a:rPr>
              <a:t>Severe Inefficiency</a:t>
            </a:r>
          </a:p>
        </p:txBody>
      </p:sp>
      <p:sp>
        <p:nvSpPr>
          <p:cNvPr id="57" name="TextBox 56"/>
          <p:cNvSpPr txBox="1"/>
          <p:nvPr/>
        </p:nvSpPr>
        <p:spPr>
          <a:xfrm>
            <a:off x="8270974" y="3202185"/>
            <a:ext cx="2595562" cy="152400"/>
          </a:xfrm>
          <a:prstGeom prst="rect">
            <a:avLst/>
          </a:prstGeom>
          <a:noFill/>
        </p:spPr>
        <p:txBody>
          <a:bodyPr wrap="none" lIns="0" tIns="0" rIns="0" bIns="0" anchor="t">
            <a:spAutoFit/>
          </a:bodyPr>
          <a:lstStyle/>
          <a:p>
            <a:pPr algn="l"/>
            <a:r>
              <a:rPr sz="975" b="1" i="0" u="none">
                <a:solidFill>
                  <a:srgbClr val="92400E"/>
                </a:solidFill>
                <a:latin typeface="Inter"/>
              </a:rPr>
              <a:t>DILUTION RISK CONCENTRATION</a:t>
            </a:r>
          </a:p>
        </p:txBody>
      </p:sp>
      <p:sp>
        <p:nvSpPr>
          <p:cNvPr id="58" name="TextBox 57"/>
          <p:cNvSpPr txBox="1"/>
          <p:nvPr/>
        </p:nvSpPr>
        <p:spPr>
          <a:xfrm>
            <a:off x="10420498" y="3211710"/>
            <a:ext cx="981075" cy="133350"/>
          </a:xfrm>
          <a:prstGeom prst="rect">
            <a:avLst/>
          </a:prstGeom>
          <a:noFill/>
        </p:spPr>
        <p:txBody>
          <a:bodyPr wrap="square" lIns="0" tIns="0" rIns="0" bIns="0" anchor="t">
            <a:spAutoFit/>
          </a:bodyPr>
          <a:lstStyle/>
          <a:p>
            <a:pPr algn="l"/>
            <a:r>
              <a:rPr sz="825" b="1" i="0" u="none">
                <a:solidFill>
                  <a:srgbClr val="B45309"/>
                </a:solidFill>
                <a:latin typeface="Inter"/>
              </a:rPr>
              <a:t>5 Specific Brands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09600" y="381000"/>
            <a:ext cx="10972800" cy="43041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09600" y="792360"/>
            <a:ext cx="109728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09600" y="1001910"/>
            <a:ext cx="5410200" cy="994171"/>
          </a:xfrm>
          <a:prstGeom prst="roundRect">
            <a:avLst>
              <a:gd name="adj" fmla="val 5748"/>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172200" y="1001910"/>
            <a:ext cx="5410200" cy="994171"/>
          </a:xfrm>
          <a:prstGeom prst="roundRect">
            <a:avLst>
              <a:gd name="adj" fmla="val 5748"/>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09600" y="2110382"/>
            <a:ext cx="5410200" cy="994171"/>
          </a:xfrm>
          <a:prstGeom prst="roundRect">
            <a:avLst>
              <a:gd name="adj" fmla="val 5748"/>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172200" y="2110382"/>
            <a:ext cx="5410200" cy="994171"/>
          </a:xfrm>
          <a:prstGeom prst="roundRect">
            <a:avLst>
              <a:gd name="adj" fmla="val 5748"/>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09600" y="3218854"/>
            <a:ext cx="5410200" cy="821531"/>
          </a:xfrm>
          <a:prstGeom prst="roundRect">
            <a:avLst>
              <a:gd name="adj" fmla="val 6956"/>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172200" y="3218854"/>
            <a:ext cx="5410200" cy="821531"/>
          </a:xfrm>
          <a:prstGeom prst="roundRect">
            <a:avLst>
              <a:gd name="adj" fmla="val 6956"/>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09600" y="4154685"/>
            <a:ext cx="5410200" cy="821531"/>
          </a:xfrm>
          <a:prstGeom prst="roundRect">
            <a:avLst>
              <a:gd name="adj" fmla="val 6956"/>
            </a:avLst>
          </a:prstGeom>
          <a:solidFill>
            <a:srgbClr val="FFF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172200" y="4154685"/>
            <a:ext cx="5410200" cy="821531"/>
          </a:xfrm>
          <a:prstGeom prst="roundRect">
            <a:avLst>
              <a:gd name="adj" fmla="val 6956"/>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09600" y="1986557"/>
            <a:ext cx="5410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09600" y="1001910"/>
            <a:ext cx="5410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09600" y="1001910"/>
            <a:ext cx="28575" cy="994171"/>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010275" y="1001910"/>
            <a:ext cx="9525" cy="99417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172200" y="1986557"/>
            <a:ext cx="5410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72200" y="1001910"/>
            <a:ext cx="5410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72200" y="1001910"/>
            <a:ext cx="28575" cy="994171"/>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11572875" y="1001910"/>
            <a:ext cx="9525" cy="99417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09600" y="3095029"/>
            <a:ext cx="5410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09600" y="2110382"/>
            <a:ext cx="5410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09600" y="2110382"/>
            <a:ext cx="28575" cy="994171"/>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010275" y="2110382"/>
            <a:ext cx="9525" cy="99417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172200" y="3095029"/>
            <a:ext cx="5410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172200" y="2110382"/>
            <a:ext cx="5410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172200" y="2110382"/>
            <a:ext cx="28575" cy="994171"/>
          </a:xfrm>
          <a:prstGeom prst="rect">
            <a:avLst/>
          </a:prstGeom>
          <a:solidFill>
            <a:srgbClr val="0F2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1572875" y="2110382"/>
            <a:ext cx="9525" cy="99417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09600" y="4030860"/>
            <a:ext cx="5410200" cy="9525"/>
          </a:xfrm>
          <a:prstGeom prst="rect">
            <a:avLst/>
          </a:prstGeom>
          <a:solidFill>
            <a:srgbClr val="FECA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09600" y="3218854"/>
            <a:ext cx="5410200" cy="9525"/>
          </a:xfrm>
          <a:prstGeom prst="rect">
            <a:avLst/>
          </a:prstGeom>
          <a:solidFill>
            <a:srgbClr val="FECA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09600" y="3218854"/>
            <a:ext cx="28575" cy="821531"/>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010275" y="3218854"/>
            <a:ext cx="9525" cy="821531"/>
          </a:xfrm>
          <a:prstGeom prst="rect">
            <a:avLst/>
          </a:prstGeom>
          <a:solidFill>
            <a:srgbClr val="FECA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172200" y="4030860"/>
            <a:ext cx="5410200" cy="9525"/>
          </a:xfrm>
          <a:prstGeom prst="rect">
            <a:avLst/>
          </a:prstGeom>
          <a:solidFill>
            <a:srgbClr val="FECA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172200" y="3218854"/>
            <a:ext cx="5410200" cy="9525"/>
          </a:xfrm>
          <a:prstGeom prst="rect">
            <a:avLst/>
          </a:prstGeom>
          <a:solidFill>
            <a:srgbClr val="FECA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6172200" y="3218854"/>
            <a:ext cx="28575" cy="821531"/>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11572875" y="3218854"/>
            <a:ext cx="9525" cy="821531"/>
          </a:xfrm>
          <a:prstGeom prst="rect">
            <a:avLst/>
          </a:prstGeom>
          <a:solidFill>
            <a:srgbClr val="FECA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09600" y="4966692"/>
            <a:ext cx="5410200" cy="9525"/>
          </a:xfrm>
          <a:prstGeom prst="rect">
            <a:avLst/>
          </a:prstGeom>
          <a:solidFill>
            <a:srgbClr val="FDE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09600" y="4154685"/>
            <a:ext cx="5410200" cy="9525"/>
          </a:xfrm>
          <a:prstGeom prst="rect">
            <a:avLst/>
          </a:prstGeom>
          <a:solidFill>
            <a:srgbClr val="FDE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09600" y="4154685"/>
            <a:ext cx="28575" cy="821531"/>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010275" y="4154685"/>
            <a:ext cx="9525" cy="821531"/>
          </a:xfrm>
          <a:prstGeom prst="rect">
            <a:avLst/>
          </a:prstGeom>
          <a:solidFill>
            <a:srgbClr val="FDE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172200" y="4966692"/>
            <a:ext cx="5410200" cy="9525"/>
          </a:xfrm>
          <a:prstGeom prst="rect">
            <a:avLst/>
          </a:prstGeom>
          <a:solidFill>
            <a:srgbClr val="FECA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172200" y="4154685"/>
            <a:ext cx="5410200" cy="9525"/>
          </a:xfrm>
          <a:prstGeom prst="rect">
            <a:avLst/>
          </a:prstGeom>
          <a:solidFill>
            <a:srgbClr val="FECA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6172200" y="4154685"/>
            <a:ext cx="28575" cy="821531"/>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11572875" y="4154685"/>
            <a:ext cx="9525" cy="821531"/>
          </a:xfrm>
          <a:prstGeom prst="rect">
            <a:avLst/>
          </a:prstGeom>
          <a:solidFill>
            <a:srgbClr val="FECA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790575" y="1125735"/>
            <a:ext cx="266700" cy="171450"/>
          </a:xfrm>
          <a:prstGeom prst="roundRect">
            <a:avLst>
              <a:gd name="adj" fmla="val 16666"/>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6353175" y="1125735"/>
            <a:ext cx="285750" cy="171450"/>
          </a:xfrm>
          <a:prstGeom prst="roundRect">
            <a:avLst>
              <a:gd name="adj" fmla="val 16666"/>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45"/>
          <p:cNvSpPr/>
          <p:nvPr/>
        </p:nvSpPr>
        <p:spPr>
          <a:xfrm>
            <a:off x="790575" y="2234207"/>
            <a:ext cx="285750" cy="171450"/>
          </a:xfrm>
          <a:prstGeom prst="roundRect">
            <a:avLst>
              <a:gd name="adj" fmla="val 16666"/>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46"/>
          <p:cNvSpPr/>
          <p:nvPr/>
        </p:nvSpPr>
        <p:spPr>
          <a:xfrm>
            <a:off x="6353175" y="2234207"/>
            <a:ext cx="285750" cy="171450"/>
          </a:xfrm>
          <a:prstGeom prst="roundRect">
            <a:avLst>
              <a:gd name="adj" fmla="val 16666"/>
            </a:avLst>
          </a:prstGeom>
          <a:solidFill>
            <a:srgbClr val="0F2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790575" y="3342679"/>
            <a:ext cx="285750" cy="171450"/>
          </a:xfrm>
          <a:prstGeom prst="roundRect">
            <a:avLst>
              <a:gd name="adj" fmla="val 16666"/>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6353175" y="3342679"/>
            <a:ext cx="285750" cy="171450"/>
          </a:xfrm>
          <a:prstGeom prst="roundRect">
            <a:avLst>
              <a:gd name="adj" fmla="val 16666"/>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ounded Rectangle 49"/>
          <p:cNvSpPr/>
          <p:nvPr/>
        </p:nvSpPr>
        <p:spPr>
          <a:xfrm>
            <a:off x="790575" y="4278510"/>
            <a:ext cx="276225" cy="171450"/>
          </a:xfrm>
          <a:prstGeom prst="roundRect">
            <a:avLst>
              <a:gd name="adj" fmla="val 16666"/>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6353175" y="4278510"/>
            <a:ext cx="285750" cy="171450"/>
          </a:xfrm>
          <a:prstGeom prst="roundRect">
            <a:avLst>
              <a:gd name="adj" fmla="val 16666"/>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2" name="Picture 51" descr="image.png"/>
          <p:cNvPicPr>
            <a:picLocks noChangeAspect="1"/>
          </p:cNvPicPr>
          <p:nvPr/>
        </p:nvPicPr>
        <p:blipFill>
          <a:blip r:embed="rId2"/>
          <a:stretch>
            <a:fillRect/>
          </a:stretch>
        </p:blipFill>
        <p:spPr>
          <a:xfrm>
            <a:off x="5724525" y="1154310"/>
            <a:ext cx="133350" cy="114300"/>
          </a:xfrm>
          <a:prstGeom prst="rect">
            <a:avLst/>
          </a:prstGeom>
        </p:spPr>
      </p:pic>
      <p:pic>
        <p:nvPicPr>
          <p:cNvPr id="53" name="Picture 52" descr="image.png"/>
          <p:cNvPicPr>
            <a:picLocks noChangeAspect="1"/>
          </p:cNvPicPr>
          <p:nvPr/>
        </p:nvPicPr>
        <p:blipFill>
          <a:blip r:embed="rId3"/>
          <a:stretch>
            <a:fillRect/>
          </a:stretch>
        </p:blipFill>
        <p:spPr>
          <a:xfrm>
            <a:off x="11287125" y="1154310"/>
            <a:ext cx="133350" cy="114300"/>
          </a:xfrm>
          <a:prstGeom prst="rect">
            <a:avLst/>
          </a:prstGeom>
        </p:spPr>
      </p:pic>
      <p:pic>
        <p:nvPicPr>
          <p:cNvPr id="54" name="Picture 53" descr="image.png"/>
          <p:cNvPicPr>
            <a:picLocks noChangeAspect="1"/>
          </p:cNvPicPr>
          <p:nvPr/>
        </p:nvPicPr>
        <p:blipFill>
          <a:blip r:embed="rId4"/>
          <a:stretch>
            <a:fillRect/>
          </a:stretch>
        </p:blipFill>
        <p:spPr>
          <a:xfrm>
            <a:off x="5724525" y="2262782"/>
            <a:ext cx="133350" cy="114300"/>
          </a:xfrm>
          <a:prstGeom prst="rect">
            <a:avLst/>
          </a:prstGeom>
        </p:spPr>
      </p:pic>
      <p:pic>
        <p:nvPicPr>
          <p:cNvPr id="55" name="Picture 54" descr="image.png"/>
          <p:cNvPicPr>
            <a:picLocks noChangeAspect="1"/>
          </p:cNvPicPr>
          <p:nvPr/>
        </p:nvPicPr>
        <p:blipFill>
          <a:blip r:embed="rId5"/>
          <a:stretch>
            <a:fillRect/>
          </a:stretch>
        </p:blipFill>
        <p:spPr>
          <a:xfrm>
            <a:off x="11287125" y="2262782"/>
            <a:ext cx="133350" cy="114300"/>
          </a:xfrm>
          <a:prstGeom prst="rect">
            <a:avLst/>
          </a:prstGeom>
        </p:spPr>
      </p:pic>
      <p:pic>
        <p:nvPicPr>
          <p:cNvPr id="56" name="Picture 55" descr="image.png"/>
          <p:cNvPicPr>
            <a:picLocks noChangeAspect="1"/>
          </p:cNvPicPr>
          <p:nvPr/>
        </p:nvPicPr>
        <p:blipFill>
          <a:blip r:embed="rId6"/>
          <a:stretch>
            <a:fillRect/>
          </a:stretch>
        </p:blipFill>
        <p:spPr>
          <a:xfrm>
            <a:off x="5724525" y="3371254"/>
            <a:ext cx="133350" cy="114300"/>
          </a:xfrm>
          <a:prstGeom prst="rect">
            <a:avLst/>
          </a:prstGeom>
        </p:spPr>
      </p:pic>
      <p:pic>
        <p:nvPicPr>
          <p:cNvPr id="57" name="Picture 56" descr="image.png"/>
          <p:cNvPicPr>
            <a:picLocks noChangeAspect="1"/>
          </p:cNvPicPr>
          <p:nvPr/>
        </p:nvPicPr>
        <p:blipFill>
          <a:blip r:embed="rId7"/>
          <a:stretch>
            <a:fillRect/>
          </a:stretch>
        </p:blipFill>
        <p:spPr>
          <a:xfrm>
            <a:off x="11306175" y="3371254"/>
            <a:ext cx="114300" cy="114300"/>
          </a:xfrm>
          <a:prstGeom prst="rect">
            <a:avLst/>
          </a:prstGeom>
        </p:spPr>
      </p:pic>
      <p:pic>
        <p:nvPicPr>
          <p:cNvPr id="58" name="Picture 57" descr="image.png"/>
          <p:cNvPicPr>
            <a:picLocks noChangeAspect="1"/>
          </p:cNvPicPr>
          <p:nvPr/>
        </p:nvPicPr>
        <p:blipFill>
          <a:blip r:embed="rId8"/>
          <a:stretch>
            <a:fillRect/>
          </a:stretch>
        </p:blipFill>
        <p:spPr>
          <a:xfrm>
            <a:off x="5724525" y="4307085"/>
            <a:ext cx="133350" cy="114300"/>
          </a:xfrm>
          <a:prstGeom prst="rect">
            <a:avLst/>
          </a:prstGeom>
        </p:spPr>
      </p:pic>
      <p:pic>
        <p:nvPicPr>
          <p:cNvPr id="59" name="Picture 58" descr="image.png"/>
          <p:cNvPicPr>
            <a:picLocks noChangeAspect="1"/>
          </p:cNvPicPr>
          <p:nvPr/>
        </p:nvPicPr>
        <p:blipFill>
          <a:blip r:embed="rId9"/>
          <a:stretch>
            <a:fillRect/>
          </a:stretch>
        </p:blipFill>
        <p:spPr>
          <a:xfrm>
            <a:off x="11334750" y="4307085"/>
            <a:ext cx="85725" cy="114300"/>
          </a:xfrm>
          <a:prstGeom prst="rect">
            <a:avLst/>
          </a:prstGeom>
        </p:spPr>
      </p:pic>
      <p:sp>
        <p:nvSpPr>
          <p:cNvPr id="60" name="TextBox 59"/>
          <p:cNvSpPr txBox="1"/>
          <p:nvPr/>
        </p:nvSpPr>
        <p:spPr>
          <a:xfrm>
            <a:off x="609600" y="381000"/>
            <a:ext cx="11582400" cy="297060"/>
          </a:xfrm>
          <a:prstGeom prst="rect">
            <a:avLst/>
          </a:prstGeom>
          <a:noFill/>
        </p:spPr>
        <p:txBody>
          <a:bodyPr wrap="none" lIns="0" tIns="0" rIns="0" bIns="0" anchor="t">
            <a:spAutoFit/>
          </a:bodyPr>
          <a:lstStyle/>
          <a:p>
            <a:pPr algn="l">
              <a:lnSpc>
                <a:spcPts val="2340"/>
              </a:lnSpc>
            </a:pPr>
            <a:r>
              <a:rPr sz="1950" b="1" i="0" u="none">
                <a:solidFill>
                  <a:srgbClr val="0F2042"/>
                </a:solidFill>
                <a:latin typeface="Inter"/>
              </a:rPr>
              <a:t>Key Findings: Sales are evenly spread, but profit is not</a:t>
            </a:r>
          </a:p>
        </p:txBody>
      </p:sp>
      <p:sp>
        <p:nvSpPr>
          <p:cNvPr id="61" name="TextBox 60"/>
          <p:cNvSpPr txBox="1"/>
          <p:nvPr/>
        </p:nvSpPr>
        <p:spPr>
          <a:xfrm>
            <a:off x="790575" y="1354335"/>
            <a:ext cx="5162550" cy="345281"/>
          </a:xfrm>
          <a:prstGeom prst="rect">
            <a:avLst/>
          </a:prstGeom>
          <a:noFill/>
        </p:spPr>
        <p:txBody>
          <a:bodyPr wrap="square" lIns="0" tIns="0" rIns="0" bIns="0" anchor="t">
            <a:spAutoFit/>
          </a:bodyPr>
          <a:lstStyle/>
          <a:p>
            <a:pPr algn="l">
              <a:lnSpc>
                <a:spcPts val="1359"/>
              </a:lnSpc>
            </a:pPr>
            <a:r>
              <a:rPr sz="937" b="0" i="0" u="none">
                <a:solidFill>
                  <a:srgbClr val="1E293B"/>
                </a:solidFill>
                <a:latin typeface="Inter"/>
              </a:rPr>
              <a:t>North earns the highest Gross Margin % (</a:t>
            </a:r>
            <a:r>
              <a:rPr sz="937" b="1" i="0" u="none">
                <a:solidFill>
                  <a:srgbClr val="1E293B"/>
                </a:solidFill>
                <a:latin typeface="Inter"/>
              </a:rPr>
              <a:t>37.15%</a:t>
            </a:r>
            <a:r>
              <a:rPr sz="937" b="0" i="0" u="none">
                <a:solidFill>
                  <a:srgbClr val="1E293B"/>
                </a:solidFill>
                <a:latin typeface="Inter"/>
              </a:rPr>
              <a:t>) and East the lowest (</a:t>
            </a:r>
            <a:r>
              <a:rPr sz="937" b="1" i="0" u="none">
                <a:solidFill>
                  <a:srgbClr val="1E293B"/>
                </a:solidFill>
                <a:latin typeface="Inter"/>
              </a:rPr>
              <a:t>26.02%</a:t>
            </a:r>
            <a:r>
              <a:rPr sz="937" b="0" i="0" u="none">
                <a:solidFill>
                  <a:srgbClr val="1E293B"/>
                </a:solidFill>
                <a:latin typeface="Inter"/>
              </a:rPr>
              <a:t>), while Net Sales stay similar across regions: the gap is in margin, not volume.</a:t>
            </a:r>
          </a:p>
        </p:txBody>
      </p:sp>
      <p:sp>
        <p:nvSpPr>
          <p:cNvPr id="62" name="TextBox 61"/>
          <p:cNvSpPr txBox="1"/>
          <p:nvPr/>
        </p:nvSpPr>
        <p:spPr>
          <a:xfrm>
            <a:off x="6353175" y="1354335"/>
            <a:ext cx="5162550" cy="517921"/>
          </a:xfrm>
          <a:prstGeom prst="rect">
            <a:avLst/>
          </a:prstGeom>
          <a:noFill/>
        </p:spPr>
        <p:txBody>
          <a:bodyPr wrap="square" lIns="0" tIns="0" rIns="0" bIns="0" anchor="t">
            <a:spAutoFit/>
          </a:bodyPr>
          <a:lstStyle/>
          <a:p>
            <a:pPr algn="l">
              <a:lnSpc>
                <a:spcPts val="1359"/>
              </a:lnSpc>
            </a:pPr>
            <a:r>
              <a:rPr sz="937" b="0" i="0" u="none">
                <a:solidFill>
                  <a:srgbClr val="1E293B"/>
                </a:solidFill>
                <a:latin typeface="Inter"/>
              </a:rPr>
              <a:t>E-Commerce has the highest Net Sales (</a:t>
            </a:r>
            <a:r>
              <a:rPr sz="937" b="1" i="0" u="none">
                <a:solidFill>
                  <a:srgbClr val="1E293B"/>
                </a:solidFill>
                <a:latin typeface="Inter"/>
              </a:rPr>
              <a:t>111.68 million</a:t>
            </a:r>
            <a:r>
              <a:rPr sz="937" b="0" i="0" u="none">
                <a:solidFill>
                  <a:srgbClr val="1E293B"/>
                </a:solidFill>
                <a:latin typeface="Inter"/>
              </a:rPr>
              <a:t>) but the lowest Gross Margin % (</a:t>
            </a:r>
            <a:r>
              <a:rPr sz="937" b="1" i="0" u="none">
                <a:solidFill>
                  <a:srgbClr val="1E293B"/>
                </a:solidFill>
                <a:latin typeface="Inter"/>
              </a:rPr>
              <a:t>26.73%</a:t>
            </a:r>
            <a:r>
              <a:rPr sz="937" b="0" i="0" u="none">
                <a:solidFill>
                  <a:srgbClr val="1E293B"/>
                </a:solidFill>
                <a:latin typeface="Inter"/>
              </a:rPr>
              <a:t>); Modern Trade earns </a:t>
            </a:r>
            <a:r>
              <a:rPr sz="937" b="1" i="0" u="none">
                <a:solidFill>
                  <a:srgbClr val="1E293B"/>
                </a:solidFill>
                <a:latin typeface="Inter"/>
              </a:rPr>
              <a:t>9.66 million</a:t>
            </a:r>
            <a:r>
              <a:rPr sz="937" b="0" i="0" u="none">
                <a:solidFill>
                  <a:srgbClr val="1E293B"/>
                </a:solidFill>
                <a:latin typeface="Inter"/>
              </a:rPr>
              <a:t> more Gross Profit on almost the same Net Sales.</a:t>
            </a:r>
          </a:p>
        </p:txBody>
      </p:sp>
      <p:sp>
        <p:nvSpPr>
          <p:cNvPr id="63" name="TextBox 62"/>
          <p:cNvSpPr txBox="1"/>
          <p:nvPr/>
        </p:nvSpPr>
        <p:spPr>
          <a:xfrm>
            <a:off x="790575" y="2462807"/>
            <a:ext cx="5162550" cy="517921"/>
          </a:xfrm>
          <a:prstGeom prst="rect">
            <a:avLst/>
          </a:prstGeom>
          <a:noFill/>
        </p:spPr>
        <p:txBody>
          <a:bodyPr wrap="square" lIns="0" tIns="0" rIns="0" bIns="0" anchor="t">
            <a:spAutoFit/>
          </a:bodyPr>
          <a:lstStyle/>
          <a:p>
            <a:pPr algn="l">
              <a:lnSpc>
                <a:spcPts val="1359"/>
              </a:lnSpc>
            </a:pPr>
            <a:r>
              <a:rPr sz="937" b="0" i="0" u="none">
                <a:solidFill>
                  <a:srgbClr val="1E293B"/>
                </a:solidFill>
                <a:latin typeface="Inter"/>
              </a:rPr>
              <a:t>Beverages sells the most (Net Sales </a:t>
            </a:r>
            <a:r>
              <a:rPr sz="937" b="1" i="0" u="none">
                <a:solidFill>
                  <a:srgbClr val="1E293B"/>
                </a:solidFill>
                <a:latin typeface="Inter"/>
              </a:rPr>
              <a:t>87.01 million</a:t>
            </a:r>
            <a:r>
              <a:rPr sz="937" b="0" i="0" u="none">
                <a:solidFill>
                  <a:srgbClr val="1E293B"/>
                </a:solidFill>
                <a:latin typeface="Inter"/>
              </a:rPr>
              <a:t>) at the lowest Gross Margin % (</a:t>
            </a:r>
            <a:r>
              <a:rPr sz="937" b="1" i="0" u="none">
                <a:solidFill>
                  <a:srgbClr val="1E293B"/>
                </a:solidFill>
                <a:latin typeface="Inter"/>
              </a:rPr>
              <a:t>22.88%</a:t>
            </a:r>
            <a:r>
              <a:rPr sz="937" b="0" i="0" u="none">
                <a:solidFill>
                  <a:srgbClr val="1E293B"/>
                </a:solidFill>
                <a:latin typeface="Inter"/>
              </a:rPr>
              <a:t>); Personal Care sells the least but earns the highest Gross Profit (</a:t>
            </a:r>
            <a:r>
              <a:rPr sz="937" b="1" i="0" u="none">
                <a:solidFill>
                  <a:srgbClr val="1E293B"/>
                </a:solidFill>
                <a:latin typeface="Inter"/>
              </a:rPr>
              <a:t>31.93 million</a:t>
            </a:r>
            <a:r>
              <a:rPr sz="937" b="0" i="0" u="none">
                <a:solidFill>
                  <a:srgbClr val="1E293B"/>
                </a:solidFill>
                <a:latin typeface="Inter"/>
              </a:rPr>
              <a:t>).</a:t>
            </a:r>
          </a:p>
        </p:txBody>
      </p:sp>
      <p:sp>
        <p:nvSpPr>
          <p:cNvPr id="64" name="TextBox 63"/>
          <p:cNvSpPr txBox="1"/>
          <p:nvPr/>
        </p:nvSpPr>
        <p:spPr>
          <a:xfrm>
            <a:off x="6353175" y="2462807"/>
            <a:ext cx="5162550" cy="517921"/>
          </a:xfrm>
          <a:prstGeom prst="rect">
            <a:avLst/>
          </a:prstGeom>
          <a:noFill/>
        </p:spPr>
        <p:txBody>
          <a:bodyPr wrap="square" lIns="0" tIns="0" rIns="0" bIns="0" anchor="t">
            <a:spAutoFit/>
          </a:bodyPr>
          <a:lstStyle/>
          <a:p>
            <a:pPr algn="l">
              <a:lnSpc>
                <a:spcPts val="1359"/>
              </a:lnSpc>
            </a:pPr>
            <a:r>
              <a:rPr sz="937" b="0" i="0" u="none">
                <a:solidFill>
                  <a:srgbClr val="1E293B"/>
                </a:solidFill>
                <a:latin typeface="Inter"/>
              </a:rPr>
              <a:t>Each brand holds </a:t>
            </a:r>
            <a:r>
              <a:rPr sz="937" b="1" i="0" u="none">
                <a:solidFill>
                  <a:srgbClr val="1E293B"/>
                </a:solidFill>
                <a:latin typeface="Inter"/>
              </a:rPr>
              <a:t>7.6% to 8.9%</a:t>
            </a:r>
            <a:r>
              <a:rPr sz="937" b="0" i="0" u="none">
                <a:solidFill>
                  <a:srgbClr val="1E293B"/>
                </a:solidFill>
                <a:latin typeface="Inter"/>
              </a:rPr>
              <a:t> of Net Sales, but Gross Profit shares range from </a:t>
            </a:r>
            <a:r>
              <a:rPr sz="937" b="1" i="0" u="none">
                <a:solidFill>
                  <a:srgbClr val="1E293B"/>
                </a:solidFill>
                <a:latin typeface="Inter"/>
              </a:rPr>
              <a:t>6.2% to 10.2%</a:t>
            </a:r>
            <a:r>
              <a:rPr sz="937" b="0" i="0" u="none">
                <a:solidFill>
                  <a:srgbClr val="1E293B"/>
                </a:solidFill>
                <a:latin typeface="Inter"/>
              </a:rPr>
              <a:t>: GlowFresh, SilkCare and PureTouch over-earn; CoolSip, FizzUp and TeaLeaf under-earn.</a:t>
            </a:r>
          </a:p>
        </p:txBody>
      </p:sp>
      <p:sp>
        <p:nvSpPr>
          <p:cNvPr id="65" name="TextBox 64"/>
          <p:cNvSpPr txBox="1"/>
          <p:nvPr/>
        </p:nvSpPr>
        <p:spPr>
          <a:xfrm>
            <a:off x="790575" y="3571279"/>
            <a:ext cx="5162550" cy="345281"/>
          </a:xfrm>
          <a:prstGeom prst="rect">
            <a:avLst/>
          </a:prstGeom>
          <a:noFill/>
        </p:spPr>
        <p:txBody>
          <a:bodyPr wrap="square" lIns="0" tIns="0" rIns="0" bIns="0" anchor="t">
            <a:spAutoFit/>
          </a:bodyPr>
          <a:lstStyle/>
          <a:p>
            <a:pPr algn="l">
              <a:lnSpc>
                <a:spcPts val="1359"/>
              </a:lnSpc>
            </a:pPr>
            <a:r>
              <a:rPr sz="937" b="1" i="0" u="none">
                <a:solidFill>
                  <a:srgbClr val="1E293B"/>
                </a:solidFill>
                <a:latin typeface="Inter"/>
              </a:rPr>
              <a:t>74</a:t>
            </a:r>
            <a:r>
              <a:rPr sz="937" b="0" i="0" u="none">
                <a:solidFill>
                  <a:srgbClr val="1E293B"/>
                </a:solidFill>
                <a:latin typeface="Inter"/>
              </a:rPr>
              <a:t> of the 120 Class A SKUs are profit-leakage candidates, together contributing </a:t>
            </a:r>
            <a:r>
              <a:rPr sz="937" b="1" i="0" u="none">
                <a:solidFill>
                  <a:srgbClr val="1E293B"/>
                </a:solidFill>
                <a:latin typeface="Inter"/>
              </a:rPr>
              <a:t>43.6%</a:t>
            </a:r>
            <a:r>
              <a:rPr sz="937" b="0" i="0" u="none">
                <a:solidFill>
                  <a:srgbClr val="1E293B"/>
                </a:solidFill>
                <a:latin typeface="Inter"/>
              </a:rPr>
              <a:t> of total Net Sales at a low Gross Margin %.</a:t>
            </a:r>
          </a:p>
        </p:txBody>
      </p:sp>
      <p:sp>
        <p:nvSpPr>
          <p:cNvPr id="66" name="TextBox 65"/>
          <p:cNvSpPr txBox="1"/>
          <p:nvPr/>
        </p:nvSpPr>
        <p:spPr>
          <a:xfrm>
            <a:off x="6353175" y="3571279"/>
            <a:ext cx="5162550" cy="345281"/>
          </a:xfrm>
          <a:prstGeom prst="rect">
            <a:avLst/>
          </a:prstGeom>
          <a:noFill/>
        </p:spPr>
        <p:txBody>
          <a:bodyPr wrap="square" lIns="0" tIns="0" rIns="0" bIns="0" anchor="t">
            <a:spAutoFit/>
          </a:bodyPr>
          <a:lstStyle/>
          <a:p>
            <a:pPr algn="l">
              <a:lnSpc>
                <a:spcPts val="1359"/>
              </a:lnSpc>
            </a:pPr>
            <a:r>
              <a:rPr sz="937" b="0" i="0" u="none">
                <a:solidFill>
                  <a:srgbClr val="1E293B"/>
                </a:solidFill>
                <a:latin typeface="Inter"/>
              </a:rPr>
              <a:t>Gross Margin % falls from </a:t>
            </a:r>
            <a:r>
              <a:rPr sz="937" b="1" i="0" u="none">
                <a:solidFill>
                  <a:srgbClr val="1E293B"/>
                </a:solidFill>
                <a:latin typeface="Inter"/>
              </a:rPr>
              <a:t>34.05%</a:t>
            </a:r>
            <a:r>
              <a:rPr sz="937" b="0" i="0" u="none">
                <a:solidFill>
                  <a:srgbClr val="1E293B"/>
                </a:solidFill>
                <a:latin typeface="Inter"/>
              </a:rPr>
              <a:t> (0 to 5% discount) to </a:t>
            </a:r>
            <a:r>
              <a:rPr sz="937" b="1" i="0" u="none">
                <a:solidFill>
                  <a:srgbClr val="1E293B"/>
                </a:solidFill>
                <a:latin typeface="Inter"/>
              </a:rPr>
              <a:t>16.39%</a:t>
            </a:r>
            <a:r>
              <a:rPr sz="937" b="0" i="0" u="none">
                <a:solidFill>
                  <a:srgbClr val="1E293B"/>
                </a:solidFill>
                <a:latin typeface="Inter"/>
              </a:rPr>
              <a:t> (above 20% discount), while units per transaction stay flat at about </a:t>
            </a:r>
            <a:r>
              <a:rPr sz="937" b="1" i="0" u="none">
                <a:solidFill>
                  <a:srgbClr val="1E293B"/>
                </a:solidFill>
                <a:latin typeface="Inter"/>
              </a:rPr>
              <a:t>40 to 41</a:t>
            </a:r>
            <a:r>
              <a:rPr sz="937" b="0" i="0" u="none">
                <a:solidFill>
                  <a:srgbClr val="1E293B"/>
                </a:solidFill>
                <a:latin typeface="Inter"/>
              </a:rPr>
              <a:t>.</a:t>
            </a:r>
          </a:p>
        </p:txBody>
      </p:sp>
      <p:sp>
        <p:nvSpPr>
          <p:cNvPr id="67" name="TextBox 66"/>
          <p:cNvSpPr txBox="1"/>
          <p:nvPr/>
        </p:nvSpPr>
        <p:spPr>
          <a:xfrm>
            <a:off x="790575" y="4507110"/>
            <a:ext cx="5162550" cy="345281"/>
          </a:xfrm>
          <a:prstGeom prst="rect">
            <a:avLst/>
          </a:prstGeom>
          <a:noFill/>
        </p:spPr>
        <p:txBody>
          <a:bodyPr wrap="square" lIns="0" tIns="0" rIns="0" bIns="0" anchor="t">
            <a:spAutoFit/>
          </a:bodyPr>
          <a:lstStyle/>
          <a:p>
            <a:pPr algn="l">
              <a:lnSpc>
                <a:spcPts val="1359"/>
              </a:lnSpc>
            </a:pPr>
            <a:r>
              <a:rPr sz="937" b="1" i="0" u="none">
                <a:solidFill>
                  <a:srgbClr val="1E293B"/>
                </a:solidFill>
                <a:latin typeface="Inter"/>
              </a:rPr>
              <a:t>5</a:t>
            </a:r>
            <a:r>
              <a:rPr sz="937" b="0" i="0" u="none">
                <a:solidFill>
                  <a:srgbClr val="1E293B"/>
                </a:solidFill>
                <a:latin typeface="Inter"/>
              </a:rPr>
              <a:t> brands grew Net Sales faster than Gross Profit (for example UrbanHarvest </a:t>
            </a:r>
            <a:r>
              <a:rPr sz="937" b="1" i="0" u="none">
                <a:solidFill>
                  <a:srgbClr val="1E293B"/>
                </a:solidFill>
                <a:latin typeface="Inter"/>
              </a:rPr>
              <a:t>+12.76%</a:t>
            </a:r>
            <a:r>
              <a:rPr sz="937" b="0" i="0" u="none">
                <a:solidFill>
                  <a:srgbClr val="1E293B"/>
                </a:solidFill>
                <a:latin typeface="Inter"/>
              </a:rPr>
              <a:t> versus </a:t>
            </a:r>
            <a:r>
              <a:rPr sz="937" b="1" i="0" u="none">
                <a:solidFill>
                  <a:srgbClr val="1E293B"/>
                </a:solidFill>
                <a:latin typeface="Inter"/>
              </a:rPr>
              <a:t>+6.00%</a:t>
            </a:r>
            <a:r>
              <a:rPr sz="937" b="0" i="0" u="none">
                <a:solidFill>
                  <a:srgbClr val="1E293B"/>
                </a:solidFill>
                <a:latin typeface="Inter"/>
              </a:rPr>
              <a:t>); all regions and channels grew Gross Profit faster than Net Sales.</a:t>
            </a:r>
          </a:p>
        </p:txBody>
      </p:sp>
      <p:sp>
        <p:nvSpPr>
          <p:cNvPr id="68" name="TextBox 67"/>
          <p:cNvSpPr txBox="1"/>
          <p:nvPr/>
        </p:nvSpPr>
        <p:spPr>
          <a:xfrm>
            <a:off x="6353175" y="4507110"/>
            <a:ext cx="5162550" cy="345281"/>
          </a:xfrm>
          <a:prstGeom prst="rect">
            <a:avLst/>
          </a:prstGeom>
          <a:noFill/>
        </p:spPr>
        <p:txBody>
          <a:bodyPr wrap="square" lIns="0" tIns="0" rIns="0" bIns="0" anchor="t">
            <a:spAutoFit/>
          </a:bodyPr>
          <a:lstStyle/>
          <a:p>
            <a:pPr algn="l">
              <a:lnSpc>
                <a:spcPts val="1359"/>
              </a:lnSpc>
            </a:pPr>
            <a:r>
              <a:rPr sz="937" b="0" i="0" u="none">
                <a:solidFill>
                  <a:srgbClr val="1E293B"/>
                </a:solidFill>
                <a:latin typeface="Inter"/>
              </a:rPr>
              <a:t>Promotions lift volume by only </a:t>
            </a:r>
            <a:r>
              <a:rPr sz="937" b="1" i="0" u="none">
                <a:solidFill>
                  <a:srgbClr val="1E293B"/>
                </a:solidFill>
                <a:latin typeface="Inter"/>
              </a:rPr>
              <a:t>0.44%</a:t>
            </a:r>
            <a:r>
              <a:rPr sz="937" b="0" i="0" u="none">
                <a:solidFill>
                  <a:srgbClr val="1E293B"/>
                </a:solidFill>
                <a:latin typeface="Inter"/>
              </a:rPr>
              <a:t> but cut Gross Margin % by </a:t>
            </a:r>
            <a:r>
              <a:rPr sz="937" b="1" i="0" u="none">
                <a:solidFill>
                  <a:srgbClr val="1E293B"/>
                </a:solidFill>
                <a:latin typeface="Inter"/>
              </a:rPr>
              <a:t>9.23 percentage points</a:t>
            </a:r>
            <a:r>
              <a:rPr sz="937" b="0" i="0" u="none">
                <a:solidFill>
                  <a:srgbClr val="1E293B"/>
                </a:solidFill>
                <a:latin typeface="Inter"/>
              </a:rPr>
              <a:t> (</a:t>
            </a:r>
            <a:r>
              <a:rPr sz="937" b="1" i="0" u="none">
                <a:solidFill>
                  <a:srgbClr val="1E293B"/>
                </a:solidFill>
                <a:latin typeface="Inter"/>
              </a:rPr>
              <a:t>33.58%</a:t>
            </a:r>
            <a:r>
              <a:rPr sz="937" b="0" i="0" u="none">
                <a:solidFill>
                  <a:srgbClr val="1E293B"/>
                </a:solidFill>
                <a:latin typeface="Inter"/>
              </a:rPr>
              <a:t> to </a:t>
            </a:r>
            <a:r>
              <a:rPr sz="937" b="1" i="0" u="none">
                <a:solidFill>
                  <a:srgbClr val="1E293B"/>
                </a:solidFill>
                <a:latin typeface="Inter"/>
              </a:rPr>
              <a:t>24.35%</a:t>
            </a:r>
            <a:r>
              <a:rPr sz="937" b="0" i="0" u="none">
                <a:solidFill>
                  <a:srgbClr val="1E293B"/>
                </a:solidFill>
                <a:latin typeface="Inter"/>
              </a:rPr>
              <a:t>): promotions do not pay back their margin cost.</a:t>
            </a:r>
          </a:p>
        </p:txBody>
      </p:sp>
      <p:sp>
        <p:nvSpPr>
          <p:cNvPr id="69" name="TextBox 68"/>
          <p:cNvSpPr txBox="1"/>
          <p:nvPr/>
        </p:nvSpPr>
        <p:spPr>
          <a:xfrm>
            <a:off x="857250" y="1144785"/>
            <a:ext cx="228600" cy="133350"/>
          </a:xfrm>
          <a:prstGeom prst="rect">
            <a:avLst/>
          </a:prstGeom>
          <a:noFill/>
        </p:spPr>
        <p:txBody>
          <a:bodyPr wrap="square" lIns="0" tIns="0" rIns="0" bIns="0" anchor="t">
            <a:spAutoFit/>
          </a:bodyPr>
          <a:lstStyle/>
          <a:p>
            <a:pPr algn="l"/>
            <a:r>
              <a:rPr sz="825" b="1" i="0" u="none">
                <a:solidFill>
                  <a:srgbClr val="FFFFFF"/>
                </a:solidFill>
                <a:latin typeface="Inter"/>
              </a:rPr>
              <a:t>Q1</a:t>
            </a:r>
          </a:p>
        </p:txBody>
      </p:sp>
      <p:sp>
        <p:nvSpPr>
          <p:cNvPr id="70" name="TextBox 69"/>
          <p:cNvSpPr txBox="1"/>
          <p:nvPr/>
        </p:nvSpPr>
        <p:spPr>
          <a:xfrm>
            <a:off x="1133475" y="1135260"/>
            <a:ext cx="1702593" cy="152400"/>
          </a:xfrm>
          <a:prstGeom prst="rect">
            <a:avLst/>
          </a:prstGeom>
          <a:noFill/>
        </p:spPr>
        <p:txBody>
          <a:bodyPr wrap="none" lIns="0" tIns="0" rIns="0" bIns="0" anchor="t">
            <a:spAutoFit/>
          </a:bodyPr>
          <a:lstStyle/>
          <a:p>
            <a:pPr algn="l"/>
            <a:r>
              <a:rPr sz="975" b="1" i="0" u="none">
                <a:solidFill>
                  <a:srgbClr val="0F2042"/>
                </a:solidFill>
                <a:latin typeface="Inter"/>
              </a:rPr>
              <a:t>Regional performance</a:t>
            </a:r>
          </a:p>
        </p:txBody>
      </p:sp>
      <p:sp>
        <p:nvSpPr>
          <p:cNvPr id="71" name="TextBox 70"/>
          <p:cNvSpPr txBox="1"/>
          <p:nvPr/>
        </p:nvSpPr>
        <p:spPr>
          <a:xfrm>
            <a:off x="6419850" y="1144785"/>
            <a:ext cx="247650" cy="133350"/>
          </a:xfrm>
          <a:prstGeom prst="rect">
            <a:avLst/>
          </a:prstGeom>
          <a:noFill/>
        </p:spPr>
        <p:txBody>
          <a:bodyPr wrap="square" lIns="0" tIns="0" rIns="0" bIns="0" anchor="t">
            <a:spAutoFit/>
          </a:bodyPr>
          <a:lstStyle/>
          <a:p>
            <a:pPr algn="l"/>
            <a:r>
              <a:rPr sz="825" b="1" i="0" u="none">
                <a:solidFill>
                  <a:srgbClr val="FFFFFF"/>
                </a:solidFill>
                <a:latin typeface="Inter"/>
              </a:rPr>
              <a:t>Q2</a:t>
            </a:r>
          </a:p>
        </p:txBody>
      </p:sp>
      <p:sp>
        <p:nvSpPr>
          <p:cNvPr id="72" name="TextBox 71"/>
          <p:cNvSpPr txBox="1"/>
          <p:nvPr/>
        </p:nvSpPr>
        <p:spPr>
          <a:xfrm>
            <a:off x="6715125" y="1135260"/>
            <a:ext cx="1666875" cy="152400"/>
          </a:xfrm>
          <a:prstGeom prst="rect">
            <a:avLst/>
          </a:prstGeom>
          <a:noFill/>
        </p:spPr>
        <p:txBody>
          <a:bodyPr wrap="none" lIns="0" tIns="0" rIns="0" bIns="0" anchor="t">
            <a:spAutoFit/>
          </a:bodyPr>
          <a:lstStyle/>
          <a:p>
            <a:pPr algn="l"/>
            <a:r>
              <a:rPr sz="975" b="1" i="0" u="none">
                <a:solidFill>
                  <a:srgbClr val="0F2042"/>
                </a:solidFill>
                <a:latin typeface="Inter"/>
              </a:rPr>
              <a:t>Channel performance</a:t>
            </a:r>
          </a:p>
        </p:txBody>
      </p:sp>
      <p:sp>
        <p:nvSpPr>
          <p:cNvPr id="73" name="TextBox 72"/>
          <p:cNvSpPr txBox="1"/>
          <p:nvPr/>
        </p:nvSpPr>
        <p:spPr>
          <a:xfrm>
            <a:off x="857250" y="2253257"/>
            <a:ext cx="247650" cy="133350"/>
          </a:xfrm>
          <a:prstGeom prst="rect">
            <a:avLst/>
          </a:prstGeom>
          <a:noFill/>
        </p:spPr>
        <p:txBody>
          <a:bodyPr wrap="square" lIns="0" tIns="0" rIns="0" bIns="0" anchor="t">
            <a:spAutoFit/>
          </a:bodyPr>
          <a:lstStyle/>
          <a:p>
            <a:pPr algn="l"/>
            <a:r>
              <a:rPr sz="825" b="1" i="0" u="none">
                <a:solidFill>
                  <a:srgbClr val="FFFFFF"/>
                </a:solidFill>
                <a:latin typeface="Inter"/>
              </a:rPr>
              <a:t>Q3</a:t>
            </a:r>
          </a:p>
        </p:txBody>
      </p:sp>
      <p:sp>
        <p:nvSpPr>
          <p:cNvPr id="74" name="TextBox 73"/>
          <p:cNvSpPr txBox="1"/>
          <p:nvPr/>
        </p:nvSpPr>
        <p:spPr>
          <a:xfrm>
            <a:off x="1152525" y="2243732"/>
            <a:ext cx="1738312" cy="152400"/>
          </a:xfrm>
          <a:prstGeom prst="rect">
            <a:avLst/>
          </a:prstGeom>
          <a:noFill/>
        </p:spPr>
        <p:txBody>
          <a:bodyPr wrap="none" lIns="0" tIns="0" rIns="0" bIns="0" anchor="t">
            <a:spAutoFit/>
          </a:bodyPr>
          <a:lstStyle/>
          <a:p>
            <a:pPr algn="l"/>
            <a:r>
              <a:rPr sz="975" b="1" i="0" u="none">
                <a:solidFill>
                  <a:srgbClr val="0F2042"/>
                </a:solidFill>
                <a:latin typeface="Inter"/>
              </a:rPr>
              <a:t>Category performance</a:t>
            </a:r>
          </a:p>
        </p:txBody>
      </p:sp>
      <p:sp>
        <p:nvSpPr>
          <p:cNvPr id="75" name="TextBox 74"/>
          <p:cNvSpPr txBox="1"/>
          <p:nvPr/>
        </p:nvSpPr>
        <p:spPr>
          <a:xfrm>
            <a:off x="6419850" y="2253257"/>
            <a:ext cx="247650" cy="133350"/>
          </a:xfrm>
          <a:prstGeom prst="rect">
            <a:avLst/>
          </a:prstGeom>
          <a:noFill/>
        </p:spPr>
        <p:txBody>
          <a:bodyPr wrap="square" lIns="0" tIns="0" rIns="0" bIns="0" anchor="t">
            <a:spAutoFit/>
          </a:bodyPr>
          <a:lstStyle/>
          <a:p>
            <a:pPr algn="l"/>
            <a:r>
              <a:rPr sz="825" b="1" i="0" u="none">
                <a:solidFill>
                  <a:srgbClr val="FFFFFF"/>
                </a:solidFill>
                <a:latin typeface="Inter"/>
              </a:rPr>
              <a:t>Q4</a:t>
            </a:r>
          </a:p>
        </p:txBody>
      </p:sp>
      <p:sp>
        <p:nvSpPr>
          <p:cNvPr id="76" name="TextBox 75"/>
          <p:cNvSpPr txBox="1"/>
          <p:nvPr/>
        </p:nvSpPr>
        <p:spPr>
          <a:xfrm>
            <a:off x="6715125" y="2243732"/>
            <a:ext cx="1276350" cy="152400"/>
          </a:xfrm>
          <a:prstGeom prst="rect">
            <a:avLst/>
          </a:prstGeom>
          <a:noFill/>
        </p:spPr>
        <p:txBody>
          <a:bodyPr wrap="none" lIns="0" tIns="0" rIns="0" bIns="0" anchor="t">
            <a:spAutoFit/>
          </a:bodyPr>
          <a:lstStyle/>
          <a:p>
            <a:pPr algn="l"/>
            <a:r>
              <a:rPr sz="975" b="1" i="0" u="none">
                <a:solidFill>
                  <a:srgbClr val="0F2042"/>
                </a:solidFill>
                <a:latin typeface="Inter"/>
              </a:rPr>
              <a:t>Brand share gap</a:t>
            </a:r>
          </a:p>
        </p:txBody>
      </p:sp>
      <p:sp>
        <p:nvSpPr>
          <p:cNvPr id="77" name="TextBox 76"/>
          <p:cNvSpPr txBox="1"/>
          <p:nvPr/>
        </p:nvSpPr>
        <p:spPr>
          <a:xfrm>
            <a:off x="857250" y="3361729"/>
            <a:ext cx="247650" cy="133350"/>
          </a:xfrm>
          <a:prstGeom prst="rect">
            <a:avLst/>
          </a:prstGeom>
          <a:noFill/>
        </p:spPr>
        <p:txBody>
          <a:bodyPr wrap="square" lIns="0" tIns="0" rIns="0" bIns="0" anchor="t">
            <a:spAutoFit/>
          </a:bodyPr>
          <a:lstStyle/>
          <a:p>
            <a:pPr algn="l"/>
            <a:r>
              <a:rPr sz="825" b="1" i="0" u="none">
                <a:solidFill>
                  <a:srgbClr val="FFFFFF"/>
                </a:solidFill>
                <a:latin typeface="Inter"/>
              </a:rPr>
              <a:t>Q5</a:t>
            </a:r>
          </a:p>
        </p:txBody>
      </p:sp>
      <p:sp>
        <p:nvSpPr>
          <p:cNvPr id="78" name="TextBox 77"/>
          <p:cNvSpPr txBox="1"/>
          <p:nvPr/>
        </p:nvSpPr>
        <p:spPr>
          <a:xfrm>
            <a:off x="1152525" y="3352204"/>
            <a:ext cx="3059906" cy="152400"/>
          </a:xfrm>
          <a:prstGeom prst="rect">
            <a:avLst/>
          </a:prstGeom>
          <a:noFill/>
        </p:spPr>
        <p:txBody>
          <a:bodyPr wrap="none" lIns="0" tIns="0" rIns="0" bIns="0" anchor="t">
            <a:spAutoFit/>
          </a:bodyPr>
          <a:lstStyle/>
          <a:p>
            <a:pPr algn="l"/>
            <a:r>
              <a:rPr sz="975" b="1" i="0" u="none">
                <a:solidFill>
                  <a:srgbClr val="991B1B"/>
                </a:solidFill>
                <a:latin typeface="Inter"/>
              </a:rPr>
              <a:t>Stock Keeping Unit (SKU) profit leakage</a:t>
            </a:r>
          </a:p>
        </p:txBody>
      </p:sp>
      <p:sp>
        <p:nvSpPr>
          <p:cNvPr id="79" name="TextBox 78"/>
          <p:cNvSpPr txBox="1"/>
          <p:nvPr/>
        </p:nvSpPr>
        <p:spPr>
          <a:xfrm>
            <a:off x="6419850" y="3361729"/>
            <a:ext cx="247650" cy="133350"/>
          </a:xfrm>
          <a:prstGeom prst="rect">
            <a:avLst/>
          </a:prstGeom>
          <a:noFill/>
        </p:spPr>
        <p:txBody>
          <a:bodyPr wrap="square" lIns="0" tIns="0" rIns="0" bIns="0" anchor="t">
            <a:spAutoFit/>
          </a:bodyPr>
          <a:lstStyle/>
          <a:p>
            <a:pPr algn="l"/>
            <a:r>
              <a:rPr sz="825" b="1" i="0" u="none">
                <a:solidFill>
                  <a:srgbClr val="FFFFFF"/>
                </a:solidFill>
                <a:latin typeface="Inter"/>
              </a:rPr>
              <a:t>Q6</a:t>
            </a:r>
          </a:p>
        </p:txBody>
      </p:sp>
      <p:sp>
        <p:nvSpPr>
          <p:cNvPr id="80" name="TextBox 79"/>
          <p:cNvSpPr txBox="1"/>
          <p:nvPr/>
        </p:nvSpPr>
        <p:spPr>
          <a:xfrm>
            <a:off x="6715125" y="3352204"/>
            <a:ext cx="1228725" cy="152400"/>
          </a:xfrm>
          <a:prstGeom prst="rect">
            <a:avLst/>
          </a:prstGeom>
          <a:noFill/>
        </p:spPr>
        <p:txBody>
          <a:bodyPr wrap="none" lIns="0" tIns="0" rIns="0" bIns="0" anchor="t">
            <a:spAutoFit/>
          </a:bodyPr>
          <a:lstStyle/>
          <a:p>
            <a:pPr algn="l"/>
            <a:r>
              <a:rPr sz="975" b="1" i="0" u="none">
                <a:solidFill>
                  <a:srgbClr val="991B1B"/>
                </a:solidFill>
                <a:latin typeface="Inter"/>
              </a:rPr>
              <a:t>Discount bands</a:t>
            </a:r>
          </a:p>
        </p:txBody>
      </p:sp>
      <p:sp>
        <p:nvSpPr>
          <p:cNvPr id="81" name="TextBox 80"/>
          <p:cNvSpPr txBox="1"/>
          <p:nvPr/>
        </p:nvSpPr>
        <p:spPr>
          <a:xfrm>
            <a:off x="857250" y="4297560"/>
            <a:ext cx="238125" cy="133350"/>
          </a:xfrm>
          <a:prstGeom prst="rect">
            <a:avLst/>
          </a:prstGeom>
          <a:noFill/>
        </p:spPr>
        <p:txBody>
          <a:bodyPr wrap="square" lIns="0" tIns="0" rIns="0" bIns="0" anchor="t">
            <a:spAutoFit/>
          </a:bodyPr>
          <a:lstStyle/>
          <a:p>
            <a:pPr algn="l"/>
            <a:r>
              <a:rPr sz="825" b="1" i="0" u="none">
                <a:solidFill>
                  <a:srgbClr val="FFFFFF"/>
                </a:solidFill>
                <a:latin typeface="Inter"/>
              </a:rPr>
              <a:t>Q7</a:t>
            </a:r>
          </a:p>
        </p:txBody>
      </p:sp>
      <p:sp>
        <p:nvSpPr>
          <p:cNvPr id="82" name="TextBox 81"/>
          <p:cNvSpPr txBox="1"/>
          <p:nvPr/>
        </p:nvSpPr>
        <p:spPr>
          <a:xfrm>
            <a:off x="1143000" y="4288035"/>
            <a:ext cx="2262187" cy="152400"/>
          </a:xfrm>
          <a:prstGeom prst="rect">
            <a:avLst/>
          </a:prstGeom>
          <a:noFill/>
        </p:spPr>
        <p:txBody>
          <a:bodyPr wrap="none" lIns="0" tIns="0" rIns="0" bIns="0" anchor="t">
            <a:spAutoFit/>
          </a:bodyPr>
          <a:lstStyle/>
          <a:p>
            <a:pPr algn="l"/>
            <a:r>
              <a:rPr sz="975" b="1" i="0" u="none">
                <a:solidFill>
                  <a:srgbClr val="92400E"/>
                </a:solidFill>
                <a:latin typeface="Inter"/>
              </a:rPr>
              <a:t>Margin dilution, 2024 to 2025</a:t>
            </a:r>
          </a:p>
        </p:txBody>
      </p:sp>
      <p:sp>
        <p:nvSpPr>
          <p:cNvPr id="83" name="TextBox 82"/>
          <p:cNvSpPr txBox="1"/>
          <p:nvPr/>
        </p:nvSpPr>
        <p:spPr>
          <a:xfrm>
            <a:off x="6419850" y="4297560"/>
            <a:ext cx="247650" cy="133350"/>
          </a:xfrm>
          <a:prstGeom prst="rect">
            <a:avLst/>
          </a:prstGeom>
          <a:noFill/>
        </p:spPr>
        <p:txBody>
          <a:bodyPr wrap="square" lIns="0" tIns="0" rIns="0" bIns="0" anchor="t">
            <a:spAutoFit/>
          </a:bodyPr>
          <a:lstStyle/>
          <a:p>
            <a:pPr algn="l"/>
            <a:r>
              <a:rPr sz="825" b="1" i="0" u="none">
                <a:solidFill>
                  <a:srgbClr val="FFFFFF"/>
                </a:solidFill>
                <a:latin typeface="Inter"/>
              </a:rPr>
              <a:t>Q8</a:t>
            </a:r>
          </a:p>
        </p:txBody>
      </p:sp>
      <p:sp>
        <p:nvSpPr>
          <p:cNvPr id="84" name="TextBox 83"/>
          <p:cNvSpPr txBox="1"/>
          <p:nvPr/>
        </p:nvSpPr>
        <p:spPr>
          <a:xfrm>
            <a:off x="6715125" y="4288035"/>
            <a:ext cx="1869281" cy="152400"/>
          </a:xfrm>
          <a:prstGeom prst="rect">
            <a:avLst/>
          </a:prstGeom>
          <a:noFill/>
        </p:spPr>
        <p:txBody>
          <a:bodyPr wrap="none" lIns="0" tIns="0" rIns="0" bIns="0" anchor="t">
            <a:spAutoFit/>
          </a:bodyPr>
          <a:lstStyle/>
          <a:p>
            <a:pPr algn="l"/>
            <a:r>
              <a:rPr sz="975" b="1" i="0" u="none">
                <a:solidFill>
                  <a:srgbClr val="991B1B"/>
                </a:solidFill>
                <a:latin typeface="Inter"/>
              </a:rPr>
              <a:t>Promotional discounting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ounded Rectangle 2"/>
          <p:cNvSpPr/>
          <p:nvPr/>
        </p:nvSpPr>
        <p:spPr>
          <a:xfrm>
            <a:off x="609600" y="1600754"/>
            <a:ext cx="4552950" cy="4371975"/>
          </a:xfrm>
          <a:prstGeom prst="roundRect">
            <a:avLst>
              <a:gd name="adj" fmla="val 1742"/>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09600" y="5963204"/>
            <a:ext cx="455295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09600" y="1600754"/>
            <a:ext cx="4552950" cy="38100"/>
          </a:xfrm>
          <a:prstGeom prst="rect">
            <a:avLst/>
          </a:prstGeom>
          <a:solidFill>
            <a:srgbClr val="0F2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09600" y="1600754"/>
            <a:ext cx="9525" cy="437197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153025" y="1600754"/>
            <a:ext cx="9525" cy="437197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09625" y="5262223"/>
            <a:ext cx="4152900" cy="510480"/>
          </a:xfrm>
          <a:prstGeom prst="roundRect">
            <a:avLst>
              <a:gd name="adj" fmla="val 11195"/>
            </a:avLst>
          </a:prstGeom>
          <a:solidFill>
            <a:srgbClr val="0F2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353050" y="1600754"/>
            <a:ext cx="6229350" cy="1285875"/>
          </a:xfrm>
          <a:prstGeom prst="roundRect">
            <a:avLst>
              <a:gd name="adj" fmla="val 444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353050" y="3000929"/>
            <a:ext cx="6229350" cy="142875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353050" y="4543979"/>
            <a:ext cx="6229350" cy="142875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353050" y="2877104"/>
            <a:ext cx="622935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353050" y="1600754"/>
            <a:ext cx="622935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353050" y="1600754"/>
            <a:ext cx="47625" cy="1285875"/>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1572875" y="1600754"/>
            <a:ext cx="9525" cy="128587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353050" y="4420154"/>
            <a:ext cx="622935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353050" y="3000929"/>
            <a:ext cx="622935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353050" y="3000929"/>
            <a:ext cx="47625" cy="1428750"/>
          </a:xfrm>
          <a:prstGeom prst="rect">
            <a:avLst/>
          </a:prstGeom>
          <a:solidFill>
            <a:srgbClr val="0F2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1572875" y="3000929"/>
            <a:ext cx="9525" cy="14287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353050" y="5963204"/>
            <a:ext cx="622935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353050" y="4543979"/>
            <a:ext cx="622935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353050" y="4543979"/>
            <a:ext cx="47625" cy="142875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11572875" y="4543979"/>
            <a:ext cx="9525" cy="14287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10153650" y="1743629"/>
            <a:ext cx="1266825" cy="190500"/>
          </a:xfrm>
          <a:prstGeom prst="roundRect">
            <a:avLst>
              <a:gd name="adj" fmla="val 15000"/>
            </a:avLst>
          </a:prstGeom>
          <a:solidFill>
            <a:srgbClr val="F0FDFA"/>
          </a:solidFill>
          <a:ln w="9525">
            <a:solidFill>
              <a:srgbClr val="99F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10077450" y="3143804"/>
            <a:ext cx="1343025" cy="190500"/>
          </a:xfrm>
          <a:prstGeom prst="roundRect">
            <a:avLst>
              <a:gd name="adj" fmla="val 15000"/>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10239375" y="4686854"/>
            <a:ext cx="1181100" cy="190500"/>
          </a:xfrm>
          <a:prstGeom prst="roundRect">
            <a:avLst>
              <a:gd name="adj" fmla="val 15000"/>
            </a:avLst>
          </a:prstGeom>
          <a:solidFill>
            <a:srgbClr val="FFFBEB"/>
          </a:solidFill>
          <a:ln w="9525">
            <a:solidFill>
              <a:srgbClr val="FDE6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809625" y="2200829"/>
            <a:ext cx="102840" cy="190500"/>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809625" y="2706844"/>
            <a:ext cx="104179" cy="190500"/>
          </a:xfrm>
          <a:prstGeom prst="roundRect">
            <a:avLst>
              <a:gd name="adj" fmla="val 50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809625" y="3212860"/>
            <a:ext cx="99714" cy="190500"/>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809625" y="3718875"/>
            <a:ext cx="84683" cy="190500"/>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Picture 31" descr="image.png"/>
          <p:cNvPicPr>
            <a:picLocks noChangeAspect="1"/>
          </p:cNvPicPr>
          <p:nvPr/>
        </p:nvPicPr>
        <p:blipFill>
          <a:blip r:embed="rId2"/>
          <a:stretch>
            <a:fillRect/>
          </a:stretch>
        </p:blipFill>
        <p:spPr>
          <a:xfrm>
            <a:off x="809625" y="1843641"/>
            <a:ext cx="133350" cy="171450"/>
          </a:xfrm>
          <a:prstGeom prst="rect">
            <a:avLst/>
          </a:prstGeom>
        </p:spPr>
      </p:pic>
      <p:sp>
        <p:nvSpPr>
          <p:cNvPr id="35" name="TextBox 34"/>
          <p:cNvSpPr txBox="1"/>
          <p:nvPr/>
        </p:nvSpPr>
        <p:spPr>
          <a:xfrm>
            <a:off x="609600" y="419100"/>
            <a:ext cx="6238875" cy="152400"/>
          </a:xfrm>
          <a:prstGeom prst="rect">
            <a:avLst/>
          </a:prstGeom>
          <a:noFill/>
        </p:spPr>
        <p:txBody>
          <a:bodyPr wrap="none" lIns="0" tIns="0" rIns="0" bIns="0" anchor="t">
            <a:spAutoFit/>
          </a:bodyPr>
          <a:lstStyle/>
          <a:p>
            <a:pPr algn="l"/>
            <a:r>
              <a:rPr sz="975" b="1" i="0" u="none">
                <a:solidFill>
                  <a:srgbClr val="0D9488"/>
                </a:solidFill>
                <a:latin typeface="Inter"/>
              </a:rPr>
              <a:t>STRATEGIC ACTION PLAN</a:t>
            </a:r>
          </a:p>
        </p:txBody>
      </p:sp>
      <p:sp>
        <p:nvSpPr>
          <p:cNvPr id="36" name="TextBox 35"/>
          <p:cNvSpPr txBox="1"/>
          <p:nvPr/>
        </p:nvSpPr>
        <p:spPr>
          <a:xfrm>
            <a:off x="609600" y="600075"/>
            <a:ext cx="6550818" cy="297060"/>
          </a:xfrm>
          <a:prstGeom prst="rect">
            <a:avLst/>
          </a:prstGeom>
          <a:noFill/>
        </p:spPr>
        <p:txBody>
          <a:bodyPr wrap="none" lIns="0" tIns="0" rIns="0" bIns="0" anchor="t">
            <a:spAutoFit/>
          </a:bodyPr>
          <a:lstStyle/>
          <a:p>
            <a:pPr algn="l">
              <a:lnSpc>
                <a:spcPts val="2340"/>
              </a:lnSpc>
            </a:pPr>
            <a:r>
              <a:rPr sz="1950" b="1" i="0" u="none">
                <a:solidFill>
                  <a:srgbClr val="0F2042"/>
                </a:solidFill>
                <a:latin typeface="Inter"/>
              </a:rPr>
              <a:t>Key Takeaways &amp; Top Commercial Levers</a:t>
            </a:r>
          </a:p>
        </p:txBody>
      </p:sp>
      <p:sp>
        <p:nvSpPr>
          <p:cNvPr id="37" name="TextBox 36"/>
          <p:cNvSpPr txBox="1"/>
          <p:nvPr/>
        </p:nvSpPr>
        <p:spPr>
          <a:xfrm>
            <a:off x="942975" y="5357473"/>
            <a:ext cx="3981450" cy="319980"/>
          </a:xfrm>
          <a:prstGeom prst="rect">
            <a:avLst/>
          </a:prstGeom>
          <a:noFill/>
        </p:spPr>
        <p:txBody>
          <a:bodyPr wrap="square" lIns="0" tIns="0" rIns="0" bIns="0" anchor="t">
            <a:spAutoFit/>
          </a:bodyPr>
          <a:lstStyle/>
          <a:p>
            <a:pPr algn="l">
              <a:lnSpc>
                <a:spcPts val="1260"/>
              </a:lnSpc>
            </a:pPr>
            <a:r>
              <a:rPr sz="900" b="1" i="0" u="none">
                <a:solidFill>
                  <a:srgbClr val="FFFFFF"/>
                </a:solidFill>
                <a:latin typeface="Inter"/>
              </a:rPr>
              <a:t>Mandate: Shift focus from uncalibrated volume push to disciplined gross profit expansion.</a:t>
            </a:r>
          </a:p>
        </p:txBody>
      </p:sp>
      <p:sp>
        <p:nvSpPr>
          <p:cNvPr id="38" name="TextBox 37"/>
          <p:cNvSpPr txBox="1"/>
          <p:nvPr/>
        </p:nvSpPr>
        <p:spPr>
          <a:xfrm>
            <a:off x="1019175" y="1829354"/>
            <a:ext cx="1800225" cy="200025"/>
          </a:xfrm>
          <a:prstGeom prst="rect">
            <a:avLst/>
          </a:prstGeom>
          <a:noFill/>
        </p:spPr>
        <p:txBody>
          <a:bodyPr wrap="none" lIns="0" tIns="0" rIns="0" bIns="0" anchor="t">
            <a:spAutoFit/>
          </a:bodyPr>
          <a:lstStyle/>
          <a:p>
            <a:pPr algn="l"/>
            <a:r>
              <a:rPr sz="1350" b="1" i="0" u="none">
                <a:solidFill>
                  <a:srgbClr val="0F2042"/>
                </a:solidFill>
                <a:latin typeface="Inter"/>
              </a:rPr>
              <a:t>Core Takeaways</a:t>
            </a:r>
          </a:p>
        </p:txBody>
      </p:sp>
      <p:sp>
        <p:nvSpPr>
          <p:cNvPr id="39" name="TextBox 38"/>
          <p:cNvSpPr txBox="1"/>
          <p:nvPr/>
        </p:nvSpPr>
        <p:spPr>
          <a:xfrm>
            <a:off x="5553075" y="1748391"/>
            <a:ext cx="4013001" cy="180975"/>
          </a:xfrm>
          <a:prstGeom prst="rect">
            <a:avLst/>
          </a:prstGeom>
          <a:noFill/>
        </p:spPr>
        <p:txBody>
          <a:bodyPr wrap="none" lIns="0" tIns="0" rIns="0" bIns="0" anchor="t">
            <a:spAutoFit/>
          </a:bodyPr>
          <a:lstStyle/>
          <a:p>
            <a:pPr algn="l"/>
            <a:r>
              <a:rPr sz="1125" b="1" i="0" u="none">
                <a:solidFill>
                  <a:srgbClr val="0F2042"/>
                </a:solidFill>
                <a:latin typeface="Inter"/>
              </a:rPr>
              <a:t>Lever 1: Rationalize Discounts &amp; Promotions</a:t>
            </a:r>
          </a:p>
        </p:txBody>
      </p:sp>
      <p:sp>
        <p:nvSpPr>
          <p:cNvPr id="40" name="TextBox 39"/>
          <p:cNvSpPr txBox="1"/>
          <p:nvPr/>
        </p:nvSpPr>
        <p:spPr>
          <a:xfrm>
            <a:off x="10229850" y="1762679"/>
            <a:ext cx="1209675" cy="152400"/>
          </a:xfrm>
          <a:prstGeom prst="rect">
            <a:avLst/>
          </a:prstGeom>
          <a:noFill/>
        </p:spPr>
        <p:txBody>
          <a:bodyPr wrap="square" lIns="0" tIns="0" rIns="0" bIns="0" anchor="t">
            <a:spAutoFit/>
          </a:bodyPr>
          <a:lstStyle/>
          <a:p>
            <a:pPr algn="l"/>
            <a:r>
              <a:rPr sz="825" b="1" i="0" u="none">
                <a:solidFill>
                  <a:srgbClr val="0D9488"/>
                </a:solidFill>
                <a:latin typeface="Inter"/>
              </a:rPr>
              <a:t>Immediate Quick Win</a:t>
            </a:r>
          </a:p>
        </p:txBody>
      </p:sp>
      <p:sp>
        <p:nvSpPr>
          <p:cNvPr id="41" name="TextBox 40"/>
          <p:cNvSpPr txBox="1"/>
          <p:nvPr/>
        </p:nvSpPr>
        <p:spPr>
          <a:xfrm>
            <a:off x="5553075" y="1972229"/>
            <a:ext cx="6638925" cy="142875"/>
          </a:xfrm>
          <a:prstGeom prst="rect">
            <a:avLst/>
          </a:prstGeom>
          <a:noFill/>
        </p:spPr>
        <p:txBody>
          <a:bodyPr wrap="none" lIns="0" tIns="0" rIns="0" bIns="0" anchor="t">
            <a:spAutoFit/>
          </a:bodyPr>
          <a:lstStyle/>
          <a:p>
            <a:pPr algn="l"/>
            <a:r>
              <a:rPr sz="937" b="1" i="0" u="none">
                <a:solidFill>
                  <a:srgbClr val="0F2042"/>
                </a:solidFill>
                <a:latin typeface="Inter"/>
              </a:rPr>
              <a:t>Action:</a:t>
            </a:r>
            <a:r>
              <a:rPr sz="937" b="0" i="0" u="none">
                <a:solidFill>
                  <a:srgbClr val="1E293B"/>
                </a:solidFill>
                <a:latin typeface="Inter"/>
              </a:rPr>
              <a:t> Cap discounts above 10% and redesign low-ROI promos, starting with Beverages.</a:t>
            </a:r>
          </a:p>
        </p:txBody>
      </p:sp>
      <p:sp>
        <p:nvSpPr>
          <p:cNvPr id="42" name="TextBox 41"/>
          <p:cNvSpPr txBox="1"/>
          <p:nvPr/>
        </p:nvSpPr>
        <p:spPr>
          <a:xfrm>
            <a:off x="5553075" y="2143679"/>
            <a:ext cx="5962650" cy="285750"/>
          </a:xfrm>
          <a:prstGeom prst="rect">
            <a:avLst/>
          </a:prstGeom>
          <a:noFill/>
        </p:spPr>
        <p:txBody>
          <a:bodyPr wrap="square" lIns="0" tIns="0" rIns="0" bIns="0" anchor="t">
            <a:spAutoFit/>
          </a:bodyPr>
          <a:lstStyle/>
          <a:p>
            <a:pPr algn="l"/>
            <a:r>
              <a:rPr sz="937" b="1" i="0" u="none">
                <a:solidFill>
                  <a:srgbClr val="0F2042"/>
                </a:solidFill>
                <a:latin typeface="Inter"/>
              </a:rPr>
              <a:t>Why (Evidence):</a:t>
            </a:r>
            <a:r>
              <a:rPr sz="937" b="0" i="0" u="none">
                <a:solidFill>
                  <a:srgbClr val="475569"/>
                </a:solidFill>
                <a:latin typeface="Inter"/>
              </a:rPr>
              <a:t> Beverages promo GM collapses to 13.53%; 9.23-pt margin sacrifice yields only 0.44% volume lift.</a:t>
            </a:r>
          </a:p>
        </p:txBody>
      </p:sp>
      <p:sp>
        <p:nvSpPr>
          <p:cNvPr id="43" name="TextBox 42"/>
          <p:cNvSpPr txBox="1"/>
          <p:nvPr/>
        </p:nvSpPr>
        <p:spPr>
          <a:xfrm>
            <a:off x="5553075" y="2458004"/>
            <a:ext cx="5962650" cy="285750"/>
          </a:xfrm>
          <a:prstGeom prst="rect">
            <a:avLst/>
          </a:prstGeom>
          <a:noFill/>
        </p:spPr>
        <p:txBody>
          <a:bodyPr wrap="square" lIns="0" tIns="0" rIns="0" bIns="0" anchor="t">
            <a:spAutoFit/>
          </a:bodyPr>
          <a:lstStyle/>
          <a:p>
            <a:pPr algn="l"/>
            <a:r>
              <a:rPr sz="937" b="1" i="0" u="none">
                <a:solidFill>
                  <a:srgbClr val="0F2042"/>
                </a:solidFill>
                <a:latin typeface="Inter"/>
              </a:rPr>
              <a:t>Expected Impact:</a:t>
            </a:r>
            <a:r>
              <a:rPr sz="937" b="1" i="0" u="none">
                <a:solidFill>
                  <a:srgbClr val="0D9488"/>
                </a:solidFill>
                <a:latin typeface="Inter"/>
              </a:rPr>
              <a:t> Reclaim substantial margin points across 65.49M in promotional revenue with zero volume penalty.</a:t>
            </a:r>
          </a:p>
        </p:txBody>
      </p:sp>
      <p:sp>
        <p:nvSpPr>
          <p:cNvPr id="44" name="TextBox 43"/>
          <p:cNvSpPr txBox="1"/>
          <p:nvPr/>
        </p:nvSpPr>
        <p:spPr>
          <a:xfrm>
            <a:off x="5553075" y="3148566"/>
            <a:ext cx="3912989" cy="180975"/>
          </a:xfrm>
          <a:prstGeom prst="rect">
            <a:avLst/>
          </a:prstGeom>
          <a:noFill/>
        </p:spPr>
        <p:txBody>
          <a:bodyPr wrap="none" lIns="0" tIns="0" rIns="0" bIns="0" anchor="t">
            <a:spAutoFit/>
          </a:bodyPr>
          <a:lstStyle/>
          <a:p>
            <a:pPr algn="l"/>
            <a:r>
              <a:rPr sz="1125" b="1" i="0" u="none">
                <a:solidFill>
                  <a:srgbClr val="0F2042"/>
                </a:solidFill>
                <a:latin typeface="Inter"/>
              </a:rPr>
              <a:t>Lever 2: Fix Margins in High-Sales Pockets</a:t>
            </a:r>
          </a:p>
        </p:txBody>
      </p:sp>
      <p:sp>
        <p:nvSpPr>
          <p:cNvPr id="45" name="TextBox 44"/>
          <p:cNvSpPr txBox="1"/>
          <p:nvPr/>
        </p:nvSpPr>
        <p:spPr>
          <a:xfrm>
            <a:off x="10153650" y="3162854"/>
            <a:ext cx="1285875" cy="152400"/>
          </a:xfrm>
          <a:prstGeom prst="rect">
            <a:avLst/>
          </a:prstGeom>
          <a:noFill/>
        </p:spPr>
        <p:txBody>
          <a:bodyPr wrap="square" lIns="0" tIns="0" rIns="0" bIns="0" anchor="t">
            <a:spAutoFit/>
          </a:bodyPr>
          <a:lstStyle/>
          <a:p>
            <a:pPr algn="l"/>
            <a:r>
              <a:rPr sz="825" b="1" i="0" u="none">
                <a:solidFill>
                  <a:srgbClr val="0F2042"/>
                </a:solidFill>
                <a:latin typeface="Inter"/>
              </a:rPr>
              <a:t>Structural Realignment</a:t>
            </a:r>
          </a:p>
        </p:txBody>
      </p:sp>
      <p:sp>
        <p:nvSpPr>
          <p:cNvPr id="46" name="TextBox 45"/>
          <p:cNvSpPr txBox="1"/>
          <p:nvPr/>
        </p:nvSpPr>
        <p:spPr>
          <a:xfrm>
            <a:off x="5553075" y="3372404"/>
            <a:ext cx="5962650" cy="285750"/>
          </a:xfrm>
          <a:prstGeom prst="rect">
            <a:avLst/>
          </a:prstGeom>
          <a:noFill/>
        </p:spPr>
        <p:txBody>
          <a:bodyPr wrap="square" lIns="0" tIns="0" rIns="0" bIns="0" anchor="t">
            <a:spAutoFit/>
          </a:bodyPr>
          <a:lstStyle/>
          <a:p>
            <a:pPr algn="l"/>
            <a:r>
              <a:rPr sz="937" b="1" i="0" u="none">
                <a:solidFill>
                  <a:srgbClr val="0F2042"/>
                </a:solidFill>
                <a:latin typeface="Inter"/>
              </a:rPr>
              <a:t>Action:</a:t>
            </a:r>
            <a:r>
              <a:rPr sz="937" b="0" i="0" u="none">
                <a:solidFill>
                  <a:srgbClr val="1E293B"/>
                </a:solidFill>
                <a:latin typeface="Inter"/>
              </a:rPr>
              <a:t> Renegotiate trade terms / pricing in E-Commerce and reprice or re-pack the 74 profit-leakage Class A SKUs.</a:t>
            </a:r>
          </a:p>
        </p:txBody>
      </p:sp>
      <p:sp>
        <p:nvSpPr>
          <p:cNvPr id="47" name="TextBox 46"/>
          <p:cNvSpPr txBox="1"/>
          <p:nvPr/>
        </p:nvSpPr>
        <p:spPr>
          <a:xfrm>
            <a:off x="5553075" y="3686729"/>
            <a:ext cx="5962650" cy="285750"/>
          </a:xfrm>
          <a:prstGeom prst="rect">
            <a:avLst/>
          </a:prstGeom>
          <a:noFill/>
        </p:spPr>
        <p:txBody>
          <a:bodyPr wrap="square" lIns="0" tIns="0" rIns="0" bIns="0" anchor="t">
            <a:spAutoFit/>
          </a:bodyPr>
          <a:lstStyle/>
          <a:p>
            <a:pPr algn="l"/>
            <a:r>
              <a:rPr sz="937" b="1" i="0" u="none">
                <a:solidFill>
                  <a:srgbClr val="0F2042"/>
                </a:solidFill>
                <a:latin typeface="Inter"/>
              </a:rPr>
              <a:t>Why (Evidence):</a:t>
            </a:r>
            <a:r>
              <a:rPr sz="937" b="0" i="0" u="none">
                <a:solidFill>
                  <a:srgbClr val="475569"/>
                </a:solidFill>
                <a:latin typeface="Inter"/>
              </a:rPr>
              <a:t> E-Commerce GM (26.73%) lags Modern Trade (35.82%) by 9.1 pts; 74 leakage SKUs drive 143.68M (43.6% total sales).</a:t>
            </a:r>
          </a:p>
        </p:txBody>
      </p:sp>
      <p:sp>
        <p:nvSpPr>
          <p:cNvPr id="48" name="TextBox 47"/>
          <p:cNvSpPr txBox="1"/>
          <p:nvPr/>
        </p:nvSpPr>
        <p:spPr>
          <a:xfrm>
            <a:off x="5553075" y="4001054"/>
            <a:ext cx="5962650" cy="285750"/>
          </a:xfrm>
          <a:prstGeom prst="rect">
            <a:avLst/>
          </a:prstGeom>
          <a:noFill/>
        </p:spPr>
        <p:txBody>
          <a:bodyPr wrap="square" lIns="0" tIns="0" rIns="0" bIns="0" anchor="t">
            <a:spAutoFit/>
          </a:bodyPr>
          <a:lstStyle/>
          <a:p>
            <a:pPr algn="l"/>
            <a:r>
              <a:rPr sz="937" b="1" i="0" u="none">
                <a:solidFill>
                  <a:srgbClr val="0F2042"/>
                </a:solidFill>
                <a:latin typeface="Inter"/>
              </a:rPr>
              <a:t>Expected Impact: Protect core enterprise cash cows and convert high volume into healthy bottom-line dollars.</a:t>
            </a:r>
          </a:p>
        </p:txBody>
      </p:sp>
      <p:sp>
        <p:nvSpPr>
          <p:cNvPr id="49" name="TextBox 48"/>
          <p:cNvSpPr txBox="1"/>
          <p:nvPr/>
        </p:nvSpPr>
        <p:spPr>
          <a:xfrm>
            <a:off x="5553075" y="4691616"/>
            <a:ext cx="4450556" cy="180975"/>
          </a:xfrm>
          <a:prstGeom prst="rect">
            <a:avLst/>
          </a:prstGeom>
          <a:noFill/>
        </p:spPr>
        <p:txBody>
          <a:bodyPr wrap="none" lIns="0" tIns="0" rIns="0" bIns="0" anchor="t">
            <a:spAutoFit/>
          </a:bodyPr>
          <a:lstStyle/>
          <a:p>
            <a:pPr algn="l"/>
            <a:r>
              <a:rPr sz="1125" b="1" i="0" u="none">
                <a:solidFill>
                  <a:srgbClr val="0F2042"/>
                </a:solidFill>
                <a:latin typeface="Inter"/>
              </a:rPr>
              <a:t>Lever 3: Shift Investment to High-Margin Drivers</a:t>
            </a:r>
          </a:p>
        </p:txBody>
      </p:sp>
      <p:sp>
        <p:nvSpPr>
          <p:cNvPr id="50" name="TextBox 49"/>
          <p:cNvSpPr txBox="1"/>
          <p:nvPr/>
        </p:nvSpPr>
        <p:spPr>
          <a:xfrm>
            <a:off x="10315575" y="4705904"/>
            <a:ext cx="1123950" cy="152400"/>
          </a:xfrm>
          <a:prstGeom prst="rect">
            <a:avLst/>
          </a:prstGeom>
          <a:noFill/>
        </p:spPr>
        <p:txBody>
          <a:bodyPr wrap="square" lIns="0" tIns="0" rIns="0" bIns="0" anchor="t">
            <a:spAutoFit/>
          </a:bodyPr>
          <a:lstStyle/>
          <a:p>
            <a:pPr algn="l"/>
            <a:r>
              <a:rPr sz="825" b="1" i="0" u="none">
                <a:solidFill>
                  <a:srgbClr val="B45309"/>
                </a:solidFill>
                <a:latin typeface="Inter"/>
              </a:rPr>
              <a:t>Capital Reallocation</a:t>
            </a:r>
          </a:p>
        </p:txBody>
      </p:sp>
      <p:sp>
        <p:nvSpPr>
          <p:cNvPr id="51" name="TextBox 50"/>
          <p:cNvSpPr txBox="1"/>
          <p:nvPr/>
        </p:nvSpPr>
        <p:spPr>
          <a:xfrm>
            <a:off x="5553075" y="4915454"/>
            <a:ext cx="5962650" cy="285750"/>
          </a:xfrm>
          <a:prstGeom prst="rect">
            <a:avLst/>
          </a:prstGeom>
          <a:noFill/>
        </p:spPr>
        <p:txBody>
          <a:bodyPr wrap="square" lIns="0" tIns="0" rIns="0" bIns="0" anchor="t">
            <a:spAutoFit/>
          </a:bodyPr>
          <a:lstStyle/>
          <a:p>
            <a:pPr algn="l"/>
            <a:r>
              <a:rPr sz="937" b="1" i="0" u="none">
                <a:solidFill>
                  <a:srgbClr val="0F2042"/>
                </a:solidFill>
                <a:latin typeface="Inter"/>
              </a:rPr>
              <a:t>Action:</a:t>
            </a:r>
            <a:r>
              <a:rPr sz="937" b="0" i="0" u="none">
                <a:solidFill>
                  <a:srgbClr val="1E293B"/>
                </a:solidFill>
                <a:latin typeface="Inter"/>
              </a:rPr>
              <a:t> Reallocate commercial investment to Personal Care, Modern Trade, North, and over-earning brands (GlowFresh, SilkCare, PureTouch, FreshNest).</a:t>
            </a:r>
          </a:p>
        </p:txBody>
      </p:sp>
      <p:sp>
        <p:nvSpPr>
          <p:cNvPr id="52" name="TextBox 51"/>
          <p:cNvSpPr txBox="1"/>
          <p:nvPr/>
        </p:nvSpPr>
        <p:spPr>
          <a:xfrm>
            <a:off x="5553075" y="5229779"/>
            <a:ext cx="5962650" cy="285750"/>
          </a:xfrm>
          <a:prstGeom prst="rect">
            <a:avLst/>
          </a:prstGeom>
          <a:noFill/>
        </p:spPr>
        <p:txBody>
          <a:bodyPr wrap="square" lIns="0" tIns="0" rIns="0" bIns="0" anchor="t">
            <a:spAutoFit/>
          </a:bodyPr>
          <a:lstStyle/>
          <a:p>
            <a:pPr algn="l"/>
            <a:r>
              <a:rPr sz="937" b="1" i="0" u="none">
                <a:solidFill>
                  <a:srgbClr val="0F2042"/>
                </a:solidFill>
                <a:latin typeface="Inter"/>
              </a:rPr>
              <a:t>Why (Evidence):</a:t>
            </a:r>
            <a:r>
              <a:rPr sz="937" b="0" i="0" u="none">
                <a:solidFill>
                  <a:srgbClr val="475569"/>
                </a:solidFill>
                <a:latin typeface="Inter"/>
              </a:rPr>
              <a:t> Personal Care delivers 41.69% GM; Modern Trade generates 39.51M profit; put a strict margin watch on CoolSip, FizzUp, UrbanHarvest, SafeHome.</a:t>
            </a:r>
          </a:p>
        </p:txBody>
      </p:sp>
      <p:sp>
        <p:nvSpPr>
          <p:cNvPr id="53" name="TextBox 52"/>
          <p:cNvSpPr txBox="1"/>
          <p:nvPr/>
        </p:nvSpPr>
        <p:spPr>
          <a:xfrm>
            <a:off x="5553075" y="5544104"/>
            <a:ext cx="5962650" cy="285750"/>
          </a:xfrm>
          <a:prstGeom prst="rect">
            <a:avLst/>
          </a:prstGeom>
          <a:noFill/>
        </p:spPr>
        <p:txBody>
          <a:bodyPr wrap="square" lIns="0" tIns="0" rIns="0" bIns="0" anchor="t">
            <a:spAutoFit/>
          </a:bodyPr>
          <a:lstStyle/>
          <a:p>
            <a:pPr algn="l"/>
            <a:r>
              <a:rPr sz="937" b="1" i="0" u="none">
                <a:solidFill>
                  <a:srgbClr val="0F2042"/>
                </a:solidFill>
                <a:latin typeface="Inter"/>
              </a:rPr>
              <a:t>Expected Impact:</a:t>
            </a:r>
            <a:r>
              <a:rPr sz="937" b="1" i="0" u="none">
                <a:solidFill>
                  <a:srgbClr val="B45309"/>
                </a:solidFill>
                <a:latin typeface="Inter"/>
              </a:rPr>
              <a:t> Maximizes compound gross margin expansion without demanding aggregate top-line budget growth.</a:t>
            </a:r>
          </a:p>
        </p:txBody>
      </p:sp>
      <p:sp>
        <p:nvSpPr>
          <p:cNvPr id="54" name="TextBox 53"/>
          <p:cNvSpPr txBox="1"/>
          <p:nvPr/>
        </p:nvSpPr>
        <p:spPr>
          <a:xfrm>
            <a:off x="666750" y="2200829"/>
            <a:ext cx="388590" cy="190500"/>
          </a:xfrm>
          <a:prstGeom prst="rect">
            <a:avLst/>
          </a:prstGeom>
          <a:noFill/>
        </p:spPr>
        <p:txBody>
          <a:bodyPr wrap="square" lIns="0" tIns="0" rIns="0" bIns="0" anchor="ctr">
            <a:spAutoFit/>
          </a:bodyPr>
          <a:lstStyle/>
          <a:p>
            <a:pPr algn="ctr"/>
            <a:r>
              <a:rPr sz="825" b="1" i="0" u="none">
                <a:solidFill>
                  <a:srgbClr val="0F2042"/>
                </a:solidFill>
                <a:latin typeface="Inter"/>
              </a:rPr>
              <a:t>1</a:t>
            </a:r>
          </a:p>
        </p:txBody>
      </p:sp>
      <p:sp>
        <p:nvSpPr>
          <p:cNvPr id="55" name="TextBox 54"/>
          <p:cNvSpPr txBox="1"/>
          <p:nvPr/>
        </p:nvSpPr>
        <p:spPr>
          <a:xfrm>
            <a:off x="1007715" y="2181779"/>
            <a:ext cx="4050059" cy="372665"/>
          </a:xfrm>
          <a:prstGeom prst="rect">
            <a:avLst/>
          </a:prstGeom>
          <a:noFill/>
        </p:spPr>
        <p:txBody>
          <a:bodyPr wrap="square" lIns="0" tIns="0" rIns="0" bIns="0" anchor="t">
            <a:spAutoFit/>
          </a:bodyPr>
          <a:lstStyle/>
          <a:p>
            <a:pPr algn="l">
              <a:lnSpc>
                <a:spcPts val="1468"/>
              </a:lnSpc>
            </a:pPr>
            <a:r>
              <a:rPr sz="1012" b="1" i="0" u="none">
                <a:solidFill>
                  <a:srgbClr val="1E293B"/>
                </a:solidFill>
                <a:latin typeface="Inter"/>
              </a:rPr>
              <a:t>Growth is not the issue, margin quality is:</a:t>
            </a:r>
            <a:r>
              <a:rPr sz="1012" b="0" i="0" u="none">
                <a:solidFill>
                  <a:srgbClr val="1E293B"/>
                </a:solidFill>
                <a:latin typeface="Inter"/>
              </a:rPr>
              <a:t> sales are evenly spread across regions and brands, but margins vary widely.</a:t>
            </a:r>
          </a:p>
        </p:txBody>
      </p:sp>
      <p:sp>
        <p:nvSpPr>
          <p:cNvPr id="56" name="TextBox 55"/>
          <p:cNvSpPr txBox="1"/>
          <p:nvPr/>
        </p:nvSpPr>
        <p:spPr>
          <a:xfrm>
            <a:off x="666750" y="2706844"/>
            <a:ext cx="389929" cy="190500"/>
          </a:xfrm>
          <a:prstGeom prst="rect">
            <a:avLst/>
          </a:prstGeom>
          <a:noFill/>
        </p:spPr>
        <p:txBody>
          <a:bodyPr wrap="square" lIns="0" tIns="0" rIns="0" bIns="0" anchor="ctr">
            <a:spAutoFit/>
          </a:bodyPr>
          <a:lstStyle/>
          <a:p>
            <a:pPr algn="ctr"/>
            <a:r>
              <a:rPr sz="825" b="1" i="0" u="none">
                <a:solidFill>
                  <a:srgbClr val="B91C1C"/>
                </a:solidFill>
                <a:latin typeface="Inter"/>
              </a:rPr>
              <a:t>2</a:t>
            </a:r>
          </a:p>
        </p:txBody>
      </p:sp>
      <p:sp>
        <p:nvSpPr>
          <p:cNvPr id="57" name="TextBox 56"/>
          <p:cNvSpPr txBox="1"/>
          <p:nvPr/>
        </p:nvSpPr>
        <p:spPr>
          <a:xfrm>
            <a:off x="1009054" y="2687794"/>
            <a:ext cx="4048720" cy="372665"/>
          </a:xfrm>
          <a:prstGeom prst="rect">
            <a:avLst/>
          </a:prstGeom>
          <a:noFill/>
        </p:spPr>
        <p:txBody>
          <a:bodyPr wrap="square" lIns="0" tIns="0" rIns="0" bIns="0" anchor="t">
            <a:spAutoFit/>
          </a:bodyPr>
          <a:lstStyle/>
          <a:p>
            <a:pPr algn="l">
              <a:lnSpc>
                <a:spcPts val="1468"/>
              </a:lnSpc>
            </a:pPr>
            <a:r>
              <a:rPr sz="1012" b="1" i="0" u="none">
                <a:solidFill>
                  <a:srgbClr val="1E293B"/>
                </a:solidFill>
                <a:latin typeface="Inter"/>
              </a:rPr>
              <a:t>Discounting buys almost no volume:</a:t>
            </a:r>
            <a:r>
              <a:rPr sz="1012" b="0" i="0" u="none">
                <a:solidFill>
                  <a:srgbClr val="1E293B"/>
                </a:solidFill>
                <a:latin typeface="Inter"/>
              </a:rPr>
              <a:t> a 9.23-pt margin sacrifice yields an insignificant 0.44% volume lift (0.0479 ROI).</a:t>
            </a:r>
          </a:p>
        </p:txBody>
      </p:sp>
      <p:sp>
        <p:nvSpPr>
          <p:cNvPr id="58" name="TextBox 57"/>
          <p:cNvSpPr txBox="1"/>
          <p:nvPr/>
        </p:nvSpPr>
        <p:spPr>
          <a:xfrm>
            <a:off x="666750" y="3212860"/>
            <a:ext cx="385464" cy="190500"/>
          </a:xfrm>
          <a:prstGeom prst="rect">
            <a:avLst/>
          </a:prstGeom>
          <a:noFill/>
        </p:spPr>
        <p:txBody>
          <a:bodyPr wrap="square" lIns="0" tIns="0" rIns="0" bIns="0" anchor="ctr">
            <a:spAutoFit/>
          </a:bodyPr>
          <a:lstStyle/>
          <a:p>
            <a:pPr algn="ctr"/>
            <a:r>
              <a:rPr sz="825" b="1" i="0" u="none">
                <a:solidFill>
                  <a:srgbClr val="0F2042"/>
                </a:solidFill>
                <a:latin typeface="Inter"/>
              </a:rPr>
              <a:t>3</a:t>
            </a:r>
          </a:p>
        </p:txBody>
      </p:sp>
      <p:sp>
        <p:nvSpPr>
          <p:cNvPr id="59" name="TextBox 58"/>
          <p:cNvSpPr txBox="1"/>
          <p:nvPr/>
        </p:nvSpPr>
        <p:spPr>
          <a:xfrm>
            <a:off x="1004589" y="3193810"/>
            <a:ext cx="4053185" cy="372665"/>
          </a:xfrm>
          <a:prstGeom prst="rect">
            <a:avLst/>
          </a:prstGeom>
          <a:noFill/>
        </p:spPr>
        <p:txBody>
          <a:bodyPr wrap="square" lIns="0" tIns="0" rIns="0" bIns="0" anchor="t">
            <a:spAutoFit/>
          </a:bodyPr>
          <a:lstStyle/>
          <a:p>
            <a:pPr algn="l">
              <a:lnSpc>
                <a:spcPts val="1468"/>
              </a:lnSpc>
            </a:pPr>
            <a:r>
              <a:rPr sz="1012" b="1" i="0" u="none">
                <a:solidFill>
                  <a:srgbClr val="1E293B"/>
                </a:solidFill>
                <a:latin typeface="Inter"/>
              </a:rPr>
              <a:t>Highest-selling pieces carry weakest margins:</a:t>
            </a:r>
            <a:r>
              <a:rPr sz="1012" b="0" i="0" u="none">
                <a:solidFill>
                  <a:srgbClr val="1E293B"/>
                </a:solidFill>
                <a:latin typeface="Inter"/>
              </a:rPr>
              <a:t> E-Commerce (26.73%), Beverages (22.88%), and Class A SKUs (29.75%).</a:t>
            </a:r>
          </a:p>
        </p:txBody>
      </p:sp>
      <p:sp>
        <p:nvSpPr>
          <p:cNvPr id="60" name="TextBox 59"/>
          <p:cNvSpPr txBox="1"/>
          <p:nvPr/>
        </p:nvSpPr>
        <p:spPr>
          <a:xfrm>
            <a:off x="666750" y="3718875"/>
            <a:ext cx="370433" cy="190500"/>
          </a:xfrm>
          <a:prstGeom prst="rect">
            <a:avLst/>
          </a:prstGeom>
          <a:noFill/>
        </p:spPr>
        <p:txBody>
          <a:bodyPr wrap="square" lIns="0" tIns="0" rIns="0" bIns="0" anchor="ctr">
            <a:spAutoFit/>
          </a:bodyPr>
          <a:lstStyle/>
          <a:p>
            <a:pPr algn="ctr"/>
            <a:r>
              <a:rPr sz="825" b="1" i="0" u="none">
                <a:solidFill>
                  <a:srgbClr val="B45309"/>
                </a:solidFill>
                <a:latin typeface="Inter"/>
              </a:rPr>
              <a:t>4</a:t>
            </a:r>
          </a:p>
        </p:txBody>
      </p:sp>
      <p:sp>
        <p:nvSpPr>
          <p:cNvPr id="61" name="TextBox 60"/>
          <p:cNvSpPr txBox="1"/>
          <p:nvPr/>
        </p:nvSpPr>
        <p:spPr>
          <a:xfrm>
            <a:off x="989558" y="3699825"/>
            <a:ext cx="4068216" cy="558998"/>
          </a:xfrm>
          <a:prstGeom prst="rect">
            <a:avLst/>
          </a:prstGeom>
          <a:noFill/>
        </p:spPr>
        <p:txBody>
          <a:bodyPr wrap="square" lIns="0" tIns="0" rIns="0" bIns="0" anchor="t">
            <a:spAutoFit/>
          </a:bodyPr>
          <a:lstStyle/>
          <a:p>
            <a:pPr algn="l">
              <a:lnSpc>
                <a:spcPts val="1468"/>
              </a:lnSpc>
            </a:pPr>
            <a:r>
              <a:rPr sz="1012" b="1" i="0" u="none">
                <a:solidFill>
                  <a:srgbClr val="1E293B"/>
                </a:solidFill>
                <a:latin typeface="Inter"/>
              </a:rPr>
              <a:t>Margin dilution is brand-specific:</a:t>
            </a:r>
            <a:r>
              <a:rPr sz="1012" b="0" i="0" u="none">
                <a:solidFill>
                  <a:srgbClr val="1E293B"/>
                </a:solidFill>
                <a:latin typeface="Inter"/>
              </a:rPr>
              <a:t> isolated in 5 brands (UrbanHarvest, CoolSip, FizzUp, SafeHome, PureTouch), not systemic to regions/channels.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TotalTime>
  <Words>1511</Words>
  <Application>Microsoft Office PowerPoint</Application>
  <PresentationFormat>Widescreen</PresentationFormat>
  <Paragraphs>135</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koushik</cp:lastModifiedBy>
  <cp:revision>2</cp:revision>
  <dcterms:created xsi:type="dcterms:W3CDTF">2013-01-27T09:14:16Z</dcterms:created>
  <dcterms:modified xsi:type="dcterms:W3CDTF">2026-10-02T13:39:52Z</dcterms:modified>
  <cp:category/>
</cp:coreProperties>
</file>